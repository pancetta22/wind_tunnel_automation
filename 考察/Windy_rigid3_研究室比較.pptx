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2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640" y="5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D2F4A-A1D0-4349-B225-95238C6D63DD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E98F2E-5B49-4C67-A82A-D243C55335C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953428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F41D2A-547B-4640-978C-9A9F94E93D7C}" type="datetimeFigureOut">
              <a:rPr kumimoji="1" lang="ja-JP" altLang="en-US" smtClean="0"/>
              <a:t>2026/4/27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BEFA6-9C16-4D76-BB21-DB07A347D5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59218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735982"/>
            <a:ext cx="7772400" cy="1832504"/>
          </a:xfrm>
          <a:prstGeom prst="rect">
            <a:avLst/>
          </a:prstGeom>
        </p:spPr>
        <p:txBody>
          <a:bodyPr anchor="b"/>
          <a:lstStyle>
            <a:lvl1pPr algn="ctr">
              <a:defRPr sz="4000"/>
            </a:lvl1pPr>
          </a:lstStyle>
          <a:p>
            <a:r>
              <a:rPr lang="ja-JP" altLang="en-US" dirty="0"/>
              <a:t>マスター タイトルの</a:t>
            </a:r>
            <a:br>
              <a:rPr lang="en-US" altLang="ja-JP" dirty="0"/>
            </a:br>
            <a:r>
              <a:rPr lang="ja-JP" altLang="en-US" dirty="0"/>
              <a:t>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114800"/>
            <a:ext cx="6858000" cy="1549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10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95788"/>
            <a:ext cx="7620000" cy="710141"/>
          </a:xfrm>
          <a:prstGeom prst="rect">
            <a:avLst/>
          </a:prstGeom>
        </p:spPr>
        <p:txBody>
          <a:bodyPr anchor="ctr"/>
          <a:lstStyle>
            <a:lvl1pPr>
              <a:defRPr sz="3600"/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3" y="1066800"/>
            <a:ext cx="8534400" cy="5060883"/>
          </a:xfrm>
          <a:prstGeom prst="rect">
            <a:avLst/>
          </a:prstGeom>
        </p:spPr>
        <p:txBody>
          <a:bodyPr/>
          <a:lstStyle>
            <a:lvl2pPr marL="685800" indent="-228600">
              <a:buFont typeface="Wingdings" panose="05000000000000000000" pitchFamily="2" charset="2"/>
              <a:buChar char="ü"/>
              <a:defRPr/>
            </a:lvl2pPr>
            <a:lvl3pPr marL="1143000" indent="-228600">
              <a:buFont typeface="Wingdings" panose="05000000000000000000" pitchFamily="2" charset="2"/>
              <a:buChar char="Ø"/>
              <a:defRPr/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0FFAB-1449-48C7-8BD1-05D6B70D271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-7" y="6206017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8275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Relationship Id="rId5" Type="http://schemas.openxmlformats.org/officeDocument/2006/relationships/image" Target="../media/image2.emf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30288" y="6356351"/>
            <a:ext cx="2713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06161" y="6356351"/>
            <a:ext cx="1109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5130FFAB-1449-48C7-8BD1-05D6B70D271B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>
            <a:off x="-7" y="956732"/>
            <a:ext cx="9144000" cy="72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tint val="66000"/>
                  <a:satMod val="160000"/>
                </a:schemeClr>
              </a:gs>
              <a:gs pos="50000">
                <a:schemeClr val="accent1">
                  <a:lumMod val="75000"/>
                  <a:tint val="44500"/>
                  <a:satMod val="160000"/>
                </a:schemeClr>
              </a:gs>
              <a:gs pos="100000">
                <a:schemeClr val="accent1">
                  <a:lumMod val="7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Picture 12" descr="http://www.aerospace.t.u-tokyo.ac.jp/overview/logo/utaeroastrologo001.jp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976" y="66675"/>
            <a:ext cx="792000" cy="83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39159" y="6287400"/>
            <a:ext cx="2139502" cy="504000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4" y="6287400"/>
            <a:ext cx="1497028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65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NACA0012 Rigid Wing</a:t>
            </a:r>
          </a:p>
          <a:p>
            <a:r>
              <a:t>全データ比較（〜260610）／揚力傾斜の謎の解決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M1　岡本雄哉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265176"/>
            <a:ext cx="6574536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</a:rPr>
              <a:t>Laboratory Seminar, Imamura Lab &amp; Yamashita Lab
The University of Tokyo, Engineering building 7,  June 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データセット一覧（rigid 実験・自動更新）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304495" y="1067104"/>
            <a:ext cx="123444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1071" y="1094536"/>
            <a:ext cx="116128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1538935" y="1067104"/>
            <a:ext cx="91440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5511" y="1094536"/>
            <a:ext cx="84124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日付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3335" y="1067104"/>
            <a:ext cx="100584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9911" y="1094536"/>
            <a:ext cx="93268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Cl @ AoA=0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9175" y="1067104"/>
            <a:ext cx="105156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5751" y="1094536"/>
            <a:ext cx="97840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零揚力迎角
[deg]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10735" y="1067104"/>
            <a:ext cx="123444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7311" y="1094536"/>
            <a:ext cx="116128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Clスロープ
[/deg]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45175" y="1067104"/>
            <a:ext cx="100584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1751" y="1094536"/>
            <a:ext cx="93268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P-M RMSE
(Cl)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51015" y="1067104"/>
            <a:ext cx="1783080" cy="325418"/>
          </a:xfrm>
          <a:prstGeom prst="rect">
            <a:avLst/>
          </a:prstGeom>
          <a:solidFill>
            <a:srgbClr val="1A3A6A"/>
          </a:solidFill>
          <a:ln w="6350">
            <a:solidFill>
              <a:srgbClr val="8899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7591" y="1094536"/>
            <a:ext cx="1709928" cy="270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備考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4495" y="1392522"/>
            <a:ext cx="12344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" y="142909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伊東さん 240521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38935" y="1392522"/>
            <a:ext cx="91440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5511" y="1429098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2024-05-21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3335" y="1392522"/>
            <a:ext cx="10058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9911" y="142909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-0.0133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59175" y="1392522"/>
            <a:ext cx="105156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95751" y="1429098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0.231°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10735" y="1392522"/>
            <a:ext cx="12344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7311" y="142909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0.1127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45175" y="1392522"/>
            <a:ext cx="10058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81751" y="142909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51015" y="1392522"/>
            <a:ext cx="178308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7591" y="1429098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（伊東さん）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4495" y="1717940"/>
            <a:ext cx="12344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071" y="1754516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伊東さん 240603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38935" y="1717940"/>
            <a:ext cx="91440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75511" y="1754516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2024-06-03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3335" y="1717940"/>
            <a:ext cx="10058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89911" y="1754516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-0.0147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9175" y="1717940"/>
            <a:ext cx="105156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5751" y="1754516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0.259°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10735" y="1717940"/>
            <a:ext cx="12344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7311" y="1754516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45175" y="1717940"/>
            <a:ext cx="10058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81751" y="1754516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0.024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51015" y="1717940"/>
            <a:ext cx="178308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7591" y="1754516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（伊東さん）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4495" y="2043358"/>
            <a:ext cx="12344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071" y="2079934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伊東さん 241223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38935" y="2043358"/>
            <a:ext cx="91440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75511" y="2079934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2024-12-23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53335" y="2043358"/>
            <a:ext cx="10058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9911" y="2079934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-0.0158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59175" y="2043358"/>
            <a:ext cx="105156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95751" y="2079934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0.287°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10735" y="2043358"/>
            <a:ext cx="12344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7311" y="2079934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0.1132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45175" y="2043358"/>
            <a:ext cx="100584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81751" y="2079934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0.024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51015" y="2043358"/>
            <a:ext cx="1783080" cy="325418"/>
          </a:xfrm>
          <a:prstGeom prst="rect">
            <a:avLst/>
          </a:prstGeom>
          <a:solidFill>
            <a:srgbClr val="EAE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87591" y="2079934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（伊東さん）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4495" y="2368776"/>
            <a:ext cx="12344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1071" y="2405352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岡本    250924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38935" y="2368776"/>
            <a:ext cx="91440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75511" y="2405352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2025-09-24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453335" y="2368776"/>
            <a:ext cx="10058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89911" y="2405352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-0.0190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59175" y="2368776"/>
            <a:ext cx="105156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95751" y="2405352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0.346°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10735" y="2368776"/>
            <a:ext cx="12344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47311" y="2405352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0.1119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45175" y="2368776"/>
            <a:ext cx="10058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81751" y="2405352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51015" y="2368776"/>
            <a:ext cx="178308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787591" y="2405352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（岡本）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04495" y="2694194"/>
            <a:ext cx="12344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1071" y="2730770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岡本    251020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538935" y="2694194"/>
            <a:ext cx="91440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575511" y="2730770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2025-10-20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53335" y="2694194"/>
            <a:ext cx="10058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89911" y="2730770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-0.0292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59175" y="2694194"/>
            <a:ext cx="105156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495751" y="2730770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0.545°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10735" y="2694194"/>
            <a:ext cx="12344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47311" y="2730770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0.1132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745175" y="2694194"/>
            <a:ext cx="10058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81751" y="2730770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0.065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51015" y="2694194"/>
            <a:ext cx="178308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87591" y="2730770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（岡本）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4495" y="3019612"/>
            <a:ext cx="12344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1071" y="305618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金光    260417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538935" y="3019612"/>
            <a:ext cx="91440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75511" y="3056188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2026-04-17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53335" y="3019612"/>
            <a:ext cx="10058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89911" y="305618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-0.0434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459175" y="3019612"/>
            <a:ext cx="105156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495751" y="3056188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0.808°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10735" y="3019612"/>
            <a:ext cx="12344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47311" y="305618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0.1083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45175" y="3019612"/>
            <a:ext cx="10058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81751" y="305618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51015" y="3019612"/>
            <a:ext cx="178308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87591" y="3056188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（金光くん）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4495" y="3345030"/>
            <a:ext cx="12344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1071" y="3381606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金光    260424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38935" y="3345030"/>
            <a:ext cx="91440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575511" y="3381606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2026-04-24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453335" y="3345030"/>
            <a:ext cx="10058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89911" y="3381606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-0.0469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459175" y="3345030"/>
            <a:ext cx="105156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495751" y="3381606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0.821°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10735" y="3345030"/>
            <a:ext cx="12344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547311" y="3381606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0.1189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45175" y="3345030"/>
            <a:ext cx="10058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81751" y="3381606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0.091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51015" y="3345030"/>
            <a:ext cx="178308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787591" y="3381606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（金光くん）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04495" y="3670448"/>
            <a:ext cx="12344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1071" y="3707024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岡本    260430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538935" y="3670448"/>
            <a:ext cx="91440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575511" y="3707024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2026-04-30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53335" y="3670448"/>
            <a:ext cx="10058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489911" y="3707024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-0.0378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459175" y="3670448"/>
            <a:ext cx="105156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495751" y="3707024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0.679°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510735" y="3670448"/>
            <a:ext cx="12344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547311" y="3707024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0.1102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745175" y="3670448"/>
            <a:ext cx="100584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781751" y="3707024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0.082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751015" y="3670448"/>
            <a:ext cx="1783080" cy="325418"/>
          </a:xfrm>
          <a:prstGeom prst="rect">
            <a:avLst/>
          </a:prstGeom>
          <a:solidFill>
            <a:srgbClr val="FFF5E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787591" y="3707024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（岡本）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04495" y="3995866"/>
            <a:ext cx="12344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41071" y="4032442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金光    260520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538935" y="3995866"/>
            <a:ext cx="91440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575511" y="4032442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2026-05-20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453335" y="3995866"/>
            <a:ext cx="10058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489911" y="4032442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-0.0424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459175" y="3995866"/>
            <a:ext cx="105156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495751" y="4032442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0.772°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510735" y="3995866"/>
            <a:ext cx="12344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547311" y="4032442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0.1112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745175" y="3995866"/>
            <a:ext cx="100584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781751" y="4032442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0.090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751015" y="3995866"/>
            <a:ext cx="1783080" cy="325418"/>
          </a:xfrm>
          <a:prstGeom prst="rect">
            <a:avLst/>
          </a:prstGeom>
          <a:solidFill>
            <a:srgbClr val="EAFFE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787591" y="4032442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（金光くん）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04495" y="4321284"/>
            <a:ext cx="12344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41071" y="4357860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260605① 新Sys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538935" y="4321284"/>
            <a:ext cx="91440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575511" y="4357860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2026-06-05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453335" y="4321284"/>
            <a:ext cx="10058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489911" y="4357860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-0.1068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459175" y="4321284"/>
            <a:ext cx="105156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495751" y="4357860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1.473°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510735" y="4321284"/>
            <a:ext cx="12344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547311" y="4357860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0.1649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745175" y="4321284"/>
            <a:ext cx="10058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781751" y="4357860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0.207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751015" y="4321284"/>
            <a:ext cx="178308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787591" y="4357860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（新Sys・接触不良）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04495" y="4646702"/>
            <a:ext cx="12344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41071" y="468327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260605② 新Sys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538935" y="4646702"/>
            <a:ext cx="91440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575511" y="4683278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2026-06-05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453335" y="4646702"/>
            <a:ext cx="10058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489911" y="468327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-0.1011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459175" y="4646702"/>
            <a:ext cx="105156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495751" y="4683278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1.342°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510735" y="4646702"/>
            <a:ext cx="12344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47311" y="468327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0.1685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745175" y="4646702"/>
            <a:ext cx="10058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781751" y="468327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0.205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751015" y="4646702"/>
            <a:ext cx="178308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787591" y="4683278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（新Sys・接触不良）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4495" y="4972120"/>
            <a:ext cx="12344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341071" y="5008696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260608 新Sys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538935" y="4972120"/>
            <a:ext cx="91440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575511" y="5008696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2026-06-08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453335" y="4972120"/>
            <a:ext cx="10058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489911" y="5008696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-0.0586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459175" y="4972120"/>
            <a:ext cx="105156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495751" y="5008696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0.949°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4510735" y="4972120"/>
            <a:ext cx="12344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547311" y="5008696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0.1365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745175" y="4972120"/>
            <a:ext cx="100584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5781751" y="5008696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0.122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751015" y="4972120"/>
            <a:ext cx="1783080" cy="325418"/>
          </a:xfrm>
          <a:prstGeom prst="rect">
            <a:avLst/>
          </a:prstGeom>
          <a:solidFill>
            <a:srgbClr val="E0F8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787591" y="5008696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（新Sys・接触不良）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304495" y="5297538"/>
            <a:ext cx="123444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41071" y="5334114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rigid3 修正後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538935" y="5297538"/>
            <a:ext cx="91440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575511" y="5334114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2026-06-10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453335" y="5297538"/>
            <a:ext cx="100584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489911" y="5334114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-0.0428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459175" y="5297538"/>
            <a:ext cx="105156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495751" y="5334114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0.831°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510735" y="5297538"/>
            <a:ext cx="123444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547311" y="5334114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0.1084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5745175" y="5297538"/>
            <a:ext cx="100584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5781751" y="5334114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0.091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751015" y="5297538"/>
            <a:ext cx="1783080" cy="325418"/>
          </a:xfrm>
          <a:prstGeom prst="rect">
            <a:avLst/>
          </a:prstGeom>
          <a:solidFill>
            <a:srgbClr val="D6F5D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787591" y="5334114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（接触修正後）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04495" y="5622956"/>
            <a:ext cx="12344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41071" y="5659532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260417_旧 新規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538935" y="5622956"/>
            <a:ext cx="91440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575511" y="5659532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2026-04-17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2453335" y="5622956"/>
            <a:ext cx="10058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2489911" y="5659532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-0.0434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459175" y="5622956"/>
            <a:ext cx="105156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3495751" y="5659532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0.800°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510735" y="5622956"/>
            <a:ext cx="12344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547311" y="5659532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0.1164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745175" y="5622956"/>
            <a:ext cx="10058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781751" y="5659532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6751015" y="5622956"/>
            <a:ext cx="178308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6787591" y="5659532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（新規・自動追加）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04495" y="5948374"/>
            <a:ext cx="12344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341071" y="5984950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260424_旧 新規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538935" y="5948374"/>
            <a:ext cx="91440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575511" y="5984950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2026-04-24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2453335" y="5948374"/>
            <a:ext cx="10058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2489911" y="5984950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-0.0469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459175" y="5948374"/>
            <a:ext cx="105156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3495751" y="5984950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0.813°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4510735" y="5948374"/>
            <a:ext cx="12344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4547311" y="5984950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0.1199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45175" y="5948374"/>
            <a:ext cx="10058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5781751" y="5984950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0.091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751015" y="5948374"/>
            <a:ext cx="178308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6787591" y="5984950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（新規・自動追加）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304495" y="6273792"/>
            <a:ext cx="12344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341071" y="631036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force_meausrement_260610 新規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538935" y="6273792"/>
            <a:ext cx="91440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575511" y="6310368"/>
            <a:ext cx="84124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2026-06-10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453335" y="6273792"/>
            <a:ext cx="10058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489911" y="631036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-0.0481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3459175" y="6273792"/>
            <a:ext cx="105156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495751" y="6310368"/>
            <a:ext cx="97840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0.776°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510735" y="6273792"/>
            <a:ext cx="12344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4547311" y="6310368"/>
            <a:ext cx="11612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0.1395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745175" y="6273792"/>
            <a:ext cx="100584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781751" y="6310368"/>
            <a:ext cx="93268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A1A2E"/>
                </a:solidFill>
              </a:rPr>
              <a:t>0.102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751015" y="6273792"/>
            <a:ext cx="1783080" cy="325418"/>
          </a:xfrm>
          <a:prstGeom prst="rect">
            <a:avLst/>
          </a:prstGeom>
          <a:solidFill>
            <a:srgbClr val="ECEC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787591" y="6310368"/>
            <a:ext cx="1709928" cy="252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1A1A2E"/>
                </a:solidFill>
              </a:rPr>
              <a:t>（新規・自動追加）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零揚力迎角の時系列変化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59436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【時系列】
・伊東さん(2024): 0.23〜0.29°
・岡本0924/1020: 0.35〜0.54°
・岡本260430: 0.68°
・金光260520: 0.77°
・260605①(新): 1.473°
・260605②(新): 1.342°
→ 水色ハイライトが新システム
→ 過去データとの比較で
　取り付け角変化を確認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 スロープ（dCl/dAoA_mod）の時系列変化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5943600" cy="4114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【時系列】
・伊東さん/岡本: ~0.110〜0.112
・金光260417/0424: ~0.120〜0.122
・金光260520: 0.111(通常範囲)
・260605①(新): 0.1649
・260605②(新): 0.1685
点線: 2π/rad = 0.1097/deg
→ 新システムのスロープが
　既存データと整合するか確認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 曲線 全データ比較（260605 太線）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594360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1148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【ポイント】
・260605①② (水色・太線) が
　過去データと重なるか確認
・線形域での傾き一致
・AoA=0 近傍のシフトは
　次スライドで拡大確認
・260605の2回計測は
　新システムの再現性確認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AoA = −5〜+5° 拡大（0点付近・零揚力迎角確認）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594360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5255" y="1067104"/>
            <a:ext cx="2377440" cy="45720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6695" y="1158544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【読み方】
Cl=0 となる AoA が
データによって異なる
伊東さん: 0.23〜0.29°
岡本:     0.35〜0.68°
金光くん: 0.77〜0.81°
260605①: 1.473°
260605②: 1.342°
→ 新システムの零揚力迎角が
　直前の計測と比較して
　変化しているか確認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Cd・Cm 曲線 全データ比較（260605 太線）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85340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正負掃引の非対称性（P-M 対称性誤差）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4160520" cy="3200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895" y="1067104"/>
            <a:ext cx="416052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04495" y="4404664"/>
            <a:ext cx="8534095" cy="160020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5935" y="4496104"/>
            <a:ext cx="835121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→ 零揚力迎角を基準に補正すると（b）、取り付け角オフセット α₀ による
　見かけ上の非対称性が除去され、実質的な空力非対称性を評価できる。
→ 260605 の P-M RMSE が過去データと同程度なら新システムの信頼性を確認。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260605 ①② 比較：新システムの再現性確認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5" y="1067104"/>
            <a:ext cx="8534095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04495" y="5730544"/>
            <a:ext cx="8534095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5935" y="5821984"/>
            <a:ext cx="83512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→ 同日に2回計測した ① と ② の Cl 差分。
　|ΔCl| が小さければ新システムの計測再現性が高いと評価できる。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304495" y="1067104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4495" y="1067104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1655" y="1103680"/>
            <a:ext cx="8351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① 揚力傾斜の異常 = 差圧デジボルの接触不良が真因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655" y="1414576"/>
            <a:ext cx="83512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260605①②/260608 の Cl スロープが過去(0.110〜0.112/deg)より大幅に増（260605①=0.165/deg 等）。
原因：差圧電圧(mV)が接触不良で過小 → 風速U・動圧qが過小 → Cl=L/q が過大 → 傾斜が過大に見えていた。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495" y="2219248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4495" y="2219248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" y="2255824"/>
            <a:ext cx="8351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② 接触修正後 rigid3 で旧データと一致（解決確認）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" y="2566720"/>
            <a:ext cx="83512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接触を修正した rigid3（真mV≈1320, U≈13.1m/s）の傾斜 = 0.1084/deg ≒ 過去の通常範囲(0.110〜0.112)・2π。
→ 同じ翼なら傾斜は風速によらず一定、という物理がようやく再現された。揚力傾斜の謎は解決。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495" y="3371392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4495" y="3371392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" y="3407968"/>
            <a:ext cx="8351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③ 零揚力迎角 α₀ は別問題（取り付け角）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" y="3718864"/>
            <a:ext cx="83512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α₀は 260605(1.47/1.34°)→rigid3(0.83°) と再マウントで旧(0.5〜0.8°)へ収束。
α₀は q補正の影響を受けない（Cl=0の位置は不変）ため、傾斜(デジボル)とは独立した別原因だった。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4495" y="4523536"/>
            <a:ext cx="8534095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A9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495" y="4523536"/>
            <a:ext cx="64008" cy="1097280"/>
          </a:xfrm>
          <a:prstGeom prst="rect">
            <a:avLst/>
          </a:prstGeom>
          <a:solidFill>
            <a:srgbClr val="4A9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" y="4560112"/>
            <a:ext cx="835121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1A2E"/>
                </a:solidFill>
              </a:rPr>
              <a:t>④ 今後の方針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" y="4871008"/>
            <a:ext cx="8351215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</a:rPr>
              <a:t>計測前チェックに『差圧mVの妥当性確認（デジボル接触）』を追加。過去の新データは真mVが分かれば補正可能。
疑っていたマウント弾性/センサFy軸/定格/後処理は全て無罪と確認済み。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</TotalTime>
  <Words>12</Words>
  <Application>Microsoft Macintosh PowerPoint</Application>
  <PresentationFormat>画面に合わせる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Arial</vt:lpstr>
      <vt:lpstr>Calibri</vt:lpstr>
      <vt:lpstr>Wingdings</vt:lpstr>
      <vt:lpstr>Office テーマ</vt:lpstr>
      <vt:lpstr>タイトル</vt:lpstr>
      <vt:lpstr>Topic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Taro</dc:creator>
  <cp:lastModifiedBy>岡本　雄哉</cp:lastModifiedBy>
  <cp:revision>65</cp:revision>
  <dcterms:created xsi:type="dcterms:W3CDTF">2015-09-16T05:55:35Z</dcterms:created>
  <dcterms:modified xsi:type="dcterms:W3CDTF">2026-04-27T06:10:25Z</dcterms:modified>
</cp:coreProperties>
</file>