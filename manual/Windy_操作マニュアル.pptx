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29768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88952" cy="73152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Windy 風洞実験自動計測システム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600" b="0" i="0">
                <a:solidFill>
                  <a:srgbClr val="A8C8F0"/>
                </a:solidFill>
              </a:rPr>
              <a:t>フォルダ構成ガイド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29000"/>
            <a:ext cx="6702552" cy="50292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493008"/>
            <a:ext cx="6702552" cy="384048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どのフォルダに何があるか・データはどう流れるか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</a:rPr>
              <a:t>MATLAB + Python  /  迎角ステージ・6軸センサ・差圧デジボルを統合自動化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全体像：リポジトリ構成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ルート直下は「入口」だけ。中身は役割ごとにフォルダ分け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4008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Windy/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├ run_experiment.m   ← 実験はこれを実行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├ run_postprocess.m  ← 後処理だけ再実行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├ setup_paths.m      ← 診断ツール用パス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├ config.json(.example)  設定ファイル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├ README.md / SPEC.md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93008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</a:rPr>
              <a:t>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├ measurement_control/  計測機器の制御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├ diagnostics/          点検・診断ツール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45152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├ leptrino/             6軸センサ通信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├ post_process/         後処理（Python）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13248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├ analysis/             結果の比較・分析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97296"/>
            <a:ext cx="60350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└ manual/               このマニュアル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143000"/>
            <a:ext cx="4754880" cy="1600200"/>
          </a:xfrm>
          <a:prstGeom prst="rect">
            <a:avLst/>
          </a:prstGeom>
          <a:solidFill>
            <a:srgbClr val="D6EEDF"/>
          </a:solidFill>
          <a:ln w="1651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143000"/>
            <a:ext cx="73152" cy="160020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1197864"/>
            <a:ext cx="44805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17A3C"/>
                </a:solidFill>
              </a:rPr>
              <a:t>🟢 ルート直下＝入口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472184"/>
            <a:ext cx="4425696" cy="119786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実験・後処理・設定。普段触るのはここ。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run_experiment / run_postprocess / config.json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926080"/>
            <a:ext cx="4754880" cy="1600200"/>
          </a:xfrm>
          <a:prstGeom prst="rect">
            <a:avLst/>
          </a:prstGeom>
          <a:solidFill>
            <a:srgbClr val="E8F0FB"/>
          </a:solidFill>
          <a:ln w="1651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2926080"/>
            <a:ext cx="73152" cy="160020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2980944"/>
            <a:ext cx="44805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E6EB4"/>
                </a:solidFill>
              </a:rPr>
              <a:t>🔵 計測ロジック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3255264"/>
            <a:ext cx="4425696" cy="119786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機器制御・センサ通信・点検ツール。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measurement_control / diagnostics / leptrino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4709160"/>
            <a:ext cx="4754880" cy="1600200"/>
          </a:xfrm>
          <a:prstGeom prst="rect">
            <a:avLst/>
          </a:prstGeom>
          <a:solidFill>
            <a:srgbClr val="EEE7F6"/>
          </a:solidFill>
          <a:ln w="1651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709160"/>
            <a:ext cx="73152" cy="16002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4764024"/>
            <a:ext cx="44805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6A3D9A"/>
                </a:solidFill>
              </a:rPr>
              <a:t>🟣 後処理・分析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5038344"/>
            <a:ext cx="4425696" cy="119786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空力係数の算出と過去データとの比較。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post_process / analysis /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ルート直下のファイル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普段の操作で使う「入口」。MATLAB コマンドウィンドウから実行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43000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run_experiment.m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43000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メイン実験スクリプト。計測〜後処理まで一気通貫（まずこれ）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46504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746504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run_postprocess.m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46504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後処理だけを単体で再実行  例) run_postprocess('…/260605_rigid')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50008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setup_paths.m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50008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診断ツールやヘルパを単体で使う前に1回だけ実行（パスを通す）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53512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953512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config.json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53512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各自の環境設定（COMポート・Pythonパス・保存先）※Git管理外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57016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557016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config.json.example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557016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設定の雛形。コピーして config.json を作る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160520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README.md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60520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クイックスタート・構成・使い方の説明書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64024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64024"/>
            <a:ext cx="35661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SPEC.md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764024"/>
            <a:ext cx="757123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設計仕様書（実装の経緯・歴史的資料）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40680"/>
            <a:ext cx="11457432" cy="960120"/>
          </a:xfrm>
          <a:prstGeom prst="rect">
            <a:avLst/>
          </a:prstGeom>
          <a:solidFill>
            <a:srgbClr val="D6EEDF"/>
          </a:solidFill>
          <a:ln w="1651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9554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17A3C"/>
                </a:solidFill>
              </a:rPr>
              <a:t>💡 最短の使い方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769864"/>
            <a:ext cx="11128248" cy="55778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① config.json.example をコピーして config.json を作り、COMポート等を設定（初回のみ）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② MATLAB でこのフォルダに cd して  run_experiment  を実行 → あとは画面の指示どおり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measurement_control/  — 計測機器の制御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run_experiment が内部で使う MATLAB ヘルパ群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28600"/>
            <a:ext cx="2743200" cy="310896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46888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⚙ run_experiment が自動で使用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5743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QT_ADL1.m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18872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迎角ステージ（QT-ADL1）のドライバクラス。原点復帰・角度移動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11457432" cy="603504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2880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LeptrinoLogger.m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82880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Leptrino 6軸センサの時系列ロガークラス（バックグラウンド記録）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1145743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6888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WindyMonitor.m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6888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計測中のリアルタイムモニタ画面（波形・進捗・停止ボタン）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11457432" cy="603504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10896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get_sensor_data.m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0896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6軸センサの瞬時平均値を1回取得する関数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40"/>
            <a:ext cx="1145743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74904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get_voltage.m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4904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R6441B デジボル（差圧電圧）を取得する関数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11457432" cy="603504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389120"/>
            <a:ext cx="3383280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make_filename.m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389120"/>
            <a:ext cx="775411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計測ファイル名を規則に従って生成するユーティリティ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11457432" cy="1005840"/>
          </a:xfrm>
          <a:prstGeom prst="rect">
            <a:avLst/>
          </a:prstGeom>
          <a:solidFill>
            <a:srgbClr val="E8F0FB"/>
          </a:solidFill>
          <a:ln w="1651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49240"/>
            <a:ext cx="73152" cy="100584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0410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E6EB4"/>
                </a:solidFill>
              </a:rPr>
              <a:t>📌 ポイント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678424"/>
            <a:ext cx="11128248" cy="60350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run_experiment 実行時に自動でパスが通るので、普段はここを直接触らない。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個別に使いたいときは先に setup_paths を実行する。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diagnostics/  — 点検・診断ツール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実験前後に手動で実行して機器やセンサを確認する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228600"/>
            <a:ext cx="2834640" cy="310896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246888"/>
            <a:ext cx="28346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手動で実行（要 setup_paths）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5743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4114800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QT_ADL1_check_connection.m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188720"/>
            <a:ext cx="7022592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迎角ステージの COM ポート接続・通信を確認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47088"/>
            <a:ext cx="11457432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47088"/>
            <a:ext cx="4114800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check_sensor_limit.m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47088"/>
            <a:ext cx="7022592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6軸センサの定格（最大計測レンジ）を確認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05456"/>
            <a:ext cx="1145743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505456"/>
            <a:ext cx="4114800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weight_check.m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05456"/>
            <a:ext cx="7022592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既知のおもりを載せて力センサの読みを検証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11457432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163824"/>
            <a:ext cx="4114800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tare_measure.m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63824"/>
            <a:ext cx="7022592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ゼロ点を取り、その基準からの6軸力を表示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22192"/>
            <a:ext cx="1145743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22192"/>
            <a:ext cx="4114800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lumix_check_connection.py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822192"/>
            <a:ext cx="7022592" cy="6217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カメラ（LUMIX）の接続確認（Python）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11457432" cy="960120"/>
          </a:xfrm>
          <a:prstGeom prst="rect">
            <a:avLst/>
          </a:prstGeom>
          <a:solidFill>
            <a:srgbClr val="D6EEDF"/>
          </a:solidFill>
          <a:ln w="1651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49554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17A3C"/>
                </a:solidFill>
              </a:rPr>
              <a:t>👤 使い方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769864"/>
            <a:ext cx="11128248" cy="55778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MATLAB のルートで  setup_paths  を1回実行 → 各ツールを関数名で実行できる。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いずれも config.json と leptrino/ をリポジトリルート基準で参照する。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leptrino/  と  post_process/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センサ通信（Python）と、計測後の数値処理（Python）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700" b="1" i="0">
                <a:solidFill>
                  <a:srgbClr val="108080"/>
                </a:solidFill>
              </a:rPr>
              <a:t>leptrino/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91056"/>
            <a:ext cx="52120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6軸センサとの通信（32bit Python 経由）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5303520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11680"/>
            <a:ext cx="3383280" cy="8778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108080"/>
                </a:solidFill>
              </a:rPr>
              <a:t>leptrino_server.py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011680"/>
            <a:ext cx="1600200" cy="8778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センサ計測サーバ。MATLABから呼ばれCSVへ記録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5303520" cy="877824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926080"/>
            <a:ext cx="3383280" cy="8778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108080"/>
                </a:solidFill>
              </a:rPr>
              <a:t>CfsUsb.dll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80"/>
            <a:ext cx="1600200" cy="87782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Leptrino USB ドライバ（32bit専用）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303520" cy="1097280"/>
          </a:xfrm>
          <a:prstGeom prst="rect">
            <a:avLst/>
          </a:prstGeom>
          <a:solidFill>
            <a:srgbClr val="FDF0DE"/>
          </a:solidFill>
          <a:ln w="1651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73152" cy="1097280"/>
          </a:xfrm>
          <a:prstGeom prst="rect">
            <a:avLst/>
          </a:prstGeom>
          <a:solidFill>
            <a:srgbClr val="D9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78224"/>
            <a:ext cx="5029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D96D00"/>
                </a:solidFill>
              </a:rPr>
              <a:t>⚠ 32bit 必須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352544"/>
            <a:ext cx="4974336" cy="69494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CfsUsb.dll は 32bit 専用。config.json の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python_exe には 32bit Python を指定する。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97280"/>
            <a:ext cx="569671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207008"/>
            <a:ext cx="530352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700" b="1" i="0">
                <a:solidFill>
                  <a:srgbClr val="2E6EB4"/>
                </a:solidFill>
              </a:rPr>
              <a:t>post_process/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591056"/>
            <a:ext cx="53949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計測データ → 風速・空力係数・グラフ（64bit Python）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011680"/>
            <a:ext cx="5440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011680"/>
            <a:ext cx="338328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make_windspeed.py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011680"/>
            <a:ext cx="173736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差圧電圧 → 風速 windspeed.csv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578608"/>
            <a:ext cx="5440680" cy="530352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578608"/>
            <a:ext cx="338328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calc_force.py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78608"/>
            <a:ext cx="173736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6軸力 → 空力係数 C_aero.csv・グラフPNG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145536"/>
            <a:ext cx="5440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145536"/>
            <a:ext cx="338328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requirements.txt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145536"/>
            <a:ext cx="173736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必要 Python パッケージ一覧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12464"/>
            <a:ext cx="5440680" cy="530352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712464"/>
            <a:ext cx="338328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venv/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712464"/>
            <a:ext cx="1737360" cy="53035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自動生成される仮想環境（Git管理外）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434840"/>
            <a:ext cx="5440680" cy="1051560"/>
          </a:xfrm>
          <a:prstGeom prst="rect">
            <a:avLst/>
          </a:prstGeom>
          <a:solidFill>
            <a:srgbClr val="E8F0FB"/>
          </a:solidFill>
          <a:ln w="1651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434840"/>
            <a:ext cx="73152" cy="105156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489704"/>
            <a:ext cx="51663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E6EB4"/>
                </a:solidFill>
              </a:rPr>
              <a:t>⚙ 自動実行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764024"/>
            <a:ext cx="5111496" cy="64922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run_experiment 完了時に venv 構築から自動。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失敗時は run_postprocess('…') で再実行。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analysis/  — 結果の比較・分析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新システムの結果を過去の剛体翼データと比較（パワポ自動更新）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228600"/>
            <a:ext cx="2468880" cy="310896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246888"/>
            <a:ext cx="24688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🟣 rigid 実験で自動更新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update_aero_data.py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188720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新実験の C_aero.csv を取り込み→比較パワポ再生成（これ1つでOK）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92224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92224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make_rigid_comparison_local.py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792224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比較パワポを生成する本体スクリプト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95728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395728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Windy新システムによる実験結果.pptx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95728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比較パワポ（成果物）。実験追加で自動更新される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99232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999232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研究室MTGテンプレート.pptx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999232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パワポの雛形（研究室フォーマット）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02736"/>
            <a:ext cx="11457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602736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aero_data/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602736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各実験の空力係数データ C_aero.csv の置き場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11457432" cy="566928"/>
          </a:xfrm>
          <a:prstGeom prst="rect">
            <a:avLst/>
          </a:prstGeom>
          <a:solidFill>
            <a:srgbClr val="EEF3FA"/>
          </a:solidFill>
          <a:ln w="9525">
            <a:solidFill>
              <a:srgbClr val="D2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206240"/>
            <a:ext cx="361188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archive/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206240"/>
            <a:ext cx="7525512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rm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使い終わった単発スクリプト・旧パワポ・グラフ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40680"/>
            <a:ext cx="11457432" cy="960120"/>
          </a:xfrm>
          <a:prstGeom prst="rect">
            <a:avLst/>
          </a:prstGeom>
          <a:solidFill>
            <a:srgbClr val="EEE7F6"/>
          </a:solidFill>
          <a:ln w="1651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49554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6A3D9A"/>
                </a:solidFill>
              </a:rPr>
              <a:t>🟣 流れ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769864"/>
            <a:ext cx="11128248" cy="55778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実験名に rigid を含むと、後処理の最後に「過去データと比較しますか？」→ y で自動更新。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手動なら  python update_aero_data.py  （引数なしで config.json の output_dir を走査）。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データの流れ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計測から比較パワポまで、ファイルがどう生まれるか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645920"/>
            <a:ext cx="2468880" cy="1691640"/>
          </a:xfrm>
          <a:prstGeom prst="rect">
            <a:avLst/>
          </a:prstGeom>
          <a:solidFill>
            <a:srgbClr val="D6EEDF"/>
          </a:solidFill>
          <a:ln w="317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" y="1645920"/>
            <a:ext cx="2468880" cy="50292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691640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run_experiment.m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267712"/>
            <a:ext cx="2286000" cy="9601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</a:rPr>
              <a:t>MATLAB で実行</a:t>
            </a:r>
          </a:p>
          <a:p>
            <a:pPr algn="ctr"/>
            <a:r>
              <a:rPr sz="1250" b="0" i="0">
                <a:solidFill>
                  <a:srgbClr val="1A1A2E"/>
                </a:solidFill>
              </a:rPr>
              <a:t>4フェーズを自動計測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212848"/>
            <a:ext cx="502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400" b="1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645920"/>
            <a:ext cx="2468880" cy="1691640"/>
          </a:xfrm>
          <a:prstGeom prst="rect">
            <a:avLst/>
          </a:prstGeom>
          <a:solidFill>
            <a:srgbClr val="F4F6F9"/>
          </a:solidFill>
          <a:ln w="317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645920"/>
            <a:ext cx="2468880" cy="50292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691640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実験フォルダ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267712"/>
            <a:ext cx="2286000" cy="9601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</a:rPr>
              <a:t>output_dir/&lt;実験名&gt;/</a:t>
            </a:r>
          </a:p>
          <a:p>
            <a:pPr algn="ctr"/>
            <a:r>
              <a:rPr sz="1250" b="0" i="0">
                <a:solidFill>
                  <a:srgbClr val="1A1A2E"/>
                </a:solidFill>
              </a:rPr>
              <a:t>data/・volt_summary・log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2212848"/>
            <a:ext cx="502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400" b="1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1645920"/>
            <a:ext cx="2468880" cy="1691640"/>
          </a:xfrm>
          <a:prstGeom prst="rect">
            <a:avLst/>
          </a:prstGeom>
          <a:solidFill>
            <a:srgbClr val="E8F0FB"/>
          </a:solidFill>
          <a:ln w="317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5936" y="1645920"/>
            <a:ext cx="2468880" cy="50292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691640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post_process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267712"/>
            <a:ext cx="2286000" cy="9601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</a:rPr>
              <a:t>windspeed.csv</a:t>
            </a:r>
          </a:p>
          <a:p>
            <a:pPr algn="ctr"/>
            <a:r>
              <a:rPr sz="1250" b="0" i="0">
                <a:solidFill>
                  <a:srgbClr val="1A1A2E"/>
                </a:solidFill>
              </a:rPr>
              <a:t>C_aero.csv・グラフPNG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2212848"/>
            <a:ext cx="50292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400" b="1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7736" y="1645920"/>
            <a:ext cx="2468880" cy="1691640"/>
          </a:xfrm>
          <a:prstGeom prst="rect">
            <a:avLst/>
          </a:prstGeom>
          <a:solidFill>
            <a:srgbClr val="EEE7F6"/>
          </a:solidFill>
          <a:ln w="3175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7736" y="1645920"/>
            <a:ext cx="2468880" cy="5029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691640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267712"/>
            <a:ext cx="2286000" cy="9601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</a:rPr>
              <a:t>比較パワポを更新</a:t>
            </a:r>
          </a:p>
          <a:p>
            <a:pPr algn="ctr"/>
            <a:r>
              <a:rPr sz="1250" b="0" i="0">
                <a:solidFill>
                  <a:srgbClr val="1A1A2E"/>
                </a:solidFill>
              </a:rPr>
              <a:t>（rigid 実験のみ）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457432" cy="1051560"/>
          </a:xfrm>
          <a:prstGeom prst="rect">
            <a:avLst/>
          </a:prstGeom>
          <a:solidFill>
            <a:srgbClr val="E8F0FB"/>
          </a:solidFill>
          <a:ln w="1651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75818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E6EB4"/>
                </a:solidFill>
              </a:rPr>
              <a:t>📁 実験フォルダの中身（output_dir/&lt;実験名&gt;/）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032504"/>
            <a:ext cx="11128248" cy="64922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data/ … 各計測点の6軸センサCSV     ＊_volt_summary.csv … フェーズ毎の差圧電圧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＊_experiment_log.json … 気温・気圧・校正定数      windspeed.csv / C_aero.csv / ＊.png … 後処理で生成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11457432" cy="1005840"/>
          </a:xfrm>
          <a:prstGeom prst="rect">
            <a:avLst/>
          </a:prstGeom>
          <a:solidFill>
            <a:srgbClr val="D6EEDF"/>
          </a:solidFill>
          <a:ln w="1651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73152" cy="100584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99262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17A3C"/>
                </a:solidFill>
              </a:rPr>
              <a:t>🔁 後処理だけやり直したいとき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66944"/>
            <a:ext cx="11128248" cy="60350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MATLAB で  run_postprocess('C:\…\WindyData\実験名')  の1行。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気温・気圧は実験フォルダの experiment_log.json から自動で読み込まれる。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後処理後の対話：ゼロ揚力角の設定修正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実験データから迎角0°の原点パルス(origin_pulse)を求め直し、y/n で更新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228600"/>
            <a:ext cx="1828800" cy="310896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246888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y/n で確認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" y="1280160"/>
            <a:ext cx="3383280" cy="1371600"/>
          </a:xfrm>
          <a:prstGeom prst="rect">
            <a:avLst/>
          </a:prstGeom>
          <a:solidFill>
            <a:srgbClr val="E8F0FB"/>
          </a:solidFill>
          <a:ln w="2794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2E6EB4"/>
                </a:solidFill>
              </a:rPr>
              <a:t>① α₀ を推定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" y="1828800"/>
            <a:ext cx="320040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calc_force.py が線形域から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ゼロ揚力角 α₀ を算出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4196" y="1737360"/>
            <a:ext cx="5486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200" b="1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2836" y="1280160"/>
            <a:ext cx="3383280" cy="1371600"/>
          </a:xfrm>
          <a:prstGeom prst="rect">
            <a:avLst/>
          </a:prstGeom>
          <a:solidFill>
            <a:srgbClr val="E8F0FB"/>
          </a:solidFill>
          <a:ln w="2794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2836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2E6EB4"/>
                </a:solidFill>
              </a:rPr>
              <a:t>② 推奨値を提示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6" y="1828800"/>
            <a:ext cx="320040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推奨 origin_pulse =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現在値 − round(α₀ × 250)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6116" y="1737360"/>
            <a:ext cx="54864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2200" b="1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4756" y="1280160"/>
            <a:ext cx="3383280" cy="1371600"/>
          </a:xfrm>
          <a:prstGeom prst="rect">
            <a:avLst/>
          </a:prstGeom>
          <a:solidFill>
            <a:srgbClr val="D6EEDF"/>
          </a:solidFill>
          <a:ln w="2794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4756" y="137160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500" b="1" i="0">
                <a:solidFill>
                  <a:srgbClr val="217A3C"/>
                </a:solidFill>
              </a:rPr>
              <a:t>③ y/n で更新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196" y="1828800"/>
            <a:ext cx="3200400" cy="7315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y なら config.json の</a:t>
            </a:r>
          </a:p>
          <a:p>
            <a:pPr algn="ctr"/>
            <a:r>
              <a:rPr sz="1200" b="0" i="0">
                <a:solidFill>
                  <a:srgbClr val="1A1A2E"/>
                </a:solidFill>
              </a:rPr>
              <a:t>origin_pulse を自動書換え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926080"/>
            <a:ext cx="676656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63240"/>
            <a:ext cx="6400800" cy="19202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7FD97F"/>
                </a:solidFill>
              </a:rPr>
              <a:t>==== ゼロ揚力角からの原点パルス修正 ====</a:t>
            </a:r>
          </a:p>
          <a:p>
            <a:pPr algn="l"/>
            <a:r>
              <a:rPr sz="1250" b="0" i="0">
                <a:solidFill>
                  <a:srgbClr val="7FD97F"/>
                </a:solidFill>
              </a:rPr>
              <a:t>  推定ゼロ揚力角 α₀ : +0.772°</a:t>
            </a:r>
          </a:p>
          <a:p>
            <a:pPr algn="l"/>
            <a:r>
              <a:rPr sz="1250" b="0" i="0">
                <a:solidFill>
                  <a:srgbClr val="7FD97F"/>
                </a:solidFill>
              </a:rPr>
              <a:t>  現在の原点パルス  : 11025 pulse</a:t>
            </a:r>
          </a:p>
          <a:p>
            <a:pPr algn="l"/>
            <a:r>
              <a:rPr sz="1250" b="0" i="0">
                <a:solidFill>
                  <a:srgbClr val="7FD97F"/>
                </a:solidFill>
              </a:rPr>
              <a:t>  推奨の原点パルス  : 10832 pulse  (補正 +193 pulse)</a:t>
            </a:r>
          </a:p>
          <a:p>
            <a:pPr algn="l"/>
            <a:r>
              <a:rPr sz="1250" b="0" i="0">
                <a:solidFill>
                  <a:srgbClr val="7FD97F"/>
                </a:solidFill>
              </a:rPr>
              <a:t>  ゼロ揚力角の設定(origin_pulse)を</a:t>
            </a:r>
          </a:p>
          <a:p>
            <a:pPr algn="l"/>
            <a:r>
              <a:rPr sz="1250" b="0" i="0">
                <a:solidFill>
                  <a:srgbClr val="7FD97F"/>
                </a:solidFill>
              </a:rPr>
              <a:t>  この推奨値に修正しますか？ [y/N]: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926080"/>
            <a:ext cx="4023360" cy="2194560"/>
          </a:xfrm>
          <a:prstGeom prst="rect">
            <a:avLst/>
          </a:prstGeom>
          <a:solidFill>
            <a:srgbClr val="D6EEDF"/>
          </a:solidFill>
          <a:ln w="1651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2926080"/>
            <a:ext cx="73152" cy="219456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980944"/>
            <a:ext cx="374904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217A3C"/>
                </a:solidFill>
              </a:rPr>
              <a:t>💡 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3255264"/>
            <a:ext cx="3694176" cy="179222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・origin_pulse は config.json の1か所で管理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  （QT_ADL1.m と calc_force.py が共有）。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・計測時の原点は experiment_log に記録され、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  過去実験の再処理でも正しい推奨値になる。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・y を選ぶと次回の実験から新しい原点で計測。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・n なら現状維持。既に一致ならスキップ。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・対称翼で α₀≈0 になるのが理想。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1457432" cy="960120"/>
          </a:xfrm>
          <a:prstGeom prst="rect">
            <a:avLst/>
          </a:prstGeom>
          <a:solidFill>
            <a:srgbClr val="FDF0DE"/>
          </a:solidFill>
          <a:ln w="1651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73152" cy="960120"/>
          </a:xfrm>
          <a:prstGeom prst="rect">
            <a:avLst/>
          </a:prstGeom>
          <a:solidFill>
            <a:srgbClr val="D9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404104"/>
            <a:ext cx="11183112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1" i="0">
                <a:solidFill>
                  <a:srgbClr val="D96D00"/>
                </a:solidFill>
              </a:rPr>
              <a:t>⚠ 注意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678424"/>
            <a:ext cx="11128248" cy="557784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α₀（ゼロ揚力角）は翼の取り付け角に対応する。キャンバー翼など α₀≠0 が物理的に正しい</a:t>
            </a:r>
          </a:p>
          <a:p>
            <a:pPr algn="l"/>
            <a:r>
              <a:rPr sz="1150" b="0" i="0">
                <a:solidFill>
                  <a:srgbClr val="1A1A2E"/>
                </a:solidFill>
              </a:rPr>
              <a:t>場合もあるため、推奨値の適用は計測者が y/n で判断する（常に従う必要はない）。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60120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よく使うコマンド早見表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502920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MATLAB コマンドウィンドウで実行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57432" cy="1554480"/>
          </a:xfrm>
          <a:prstGeom prst="rect">
            <a:avLst/>
          </a:prstGeom>
          <a:solidFill>
            <a:srgbClr val="D6EEDF"/>
          </a:solidFill>
          <a:ln w="2286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91440" cy="1554480"/>
          </a:xfrm>
          <a:prstGeom prst="rect">
            <a:avLst/>
          </a:prstGeom>
          <a:solidFill>
            <a:srgbClr val="21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512064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400" b="1" i="0">
                <a:solidFill>
                  <a:srgbClr val="7FD97F"/>
                </a:solidFill>
              </a:rPr>
              <a:t>&gt;&gt; run_experiment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0292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17A3C"/>
                </a:solidFill>
              </a:rPr>
              <a:t>実験を最初から実行（計測〜後処理〜比較まで）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53312"/>
            <a:ext cx="5760720" cy="12801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画面の指示に従うだけ：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フォルダ名 → 気温・気圧 → 迎角範囲 →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各フェーズでブロワー確認 → 自動計測 → 自動後処理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07792"/>
            <a:ext cx="11457432" cy="1554480"/>
          </a:xfrm>
          <a:prstGeom prst="rect">
            <a:avLst/>
          </a:prstGeom>
          <a:solidFill>
            <a:srgbClr val="E8F0FB"/>
          </a:solidFill>
          <a:ln w="2286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07792"/>
            <a:ext cx="91440" cy="1554480"/>
          </a:xfrm>
          <a:prstGeom prst="rect">
            <a:avLst/>
          </a:prstGeom>
          <a:solidFill>
            <a:srgbClr val="2E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090672"/>
            <a:ext cx="512064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63824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400" b="1" i="0">
                <a:solidFill>
                  <a:srgbClr val="7FD97F"/>
                </a:solidFill>
              </a:rPr>
              <a:t>&gt;&gt; run_postprocess('…実験フォルダ')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50292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2E6EB4"/>
                </a:solidFill>
              </a:rPr>
              <a:t>後処理だけを単体で（再）実行する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72384"/>
            <a:ext cx="5760720" cy="12801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後処理が失敗したときのやり直し、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過去実験の再処理（グラフ範囲変更後など）。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気温・気圧はログから自動取得。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26864"/>
            <a:ext cx="11457432" cy="1554480"/>
          </a:xfrm>
          <a:prstGeom prst="rect">
            <a:avLst/>
          </a:prstGeom>
          <a:solidFill>
            <a:srgbClr val="EEE7F6"/>
          </a:solidFill>
          <a:ln w="2286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626864"/>
            <a:ext cx="91440" cy="155448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809744"/>
            <a:ext cx="5120640" cy="548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82896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400" b="1" i="0">
                <a:solidFill>
                  <a:srgbClr val="7FD97F"/>
                </a:solidFill>
              </a:rPr>
              <a:t>&gt;&gt; setup_paths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95544"/>
            <a:ext cx="5029200" cy="54864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1" i="0">
                <a:solidFill>
                  <a:srgbClr val="6A3D9A"/>
                </a:solidFill>
              </a:rPr>
              <a:t>診断ツール・ヘルパを単体で使う前の準備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91456"/>
            <a:ext cx="5760720" cy="1280160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measurement_control / diagnostics を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パスに追加。実行後は QT_ADL1_check_connection、</a:t>
            </a:r>
          </a:p>
          <a:p>
            <a:pPr algn="l"/>
            <a:r>
              <a:rPr sz="1250" b="0" i="0">
                <a:solidFill>
                  <a:srgbClr val="1A1A2E"/>
                </a:solidFill>
              </a:rPr>
              <a:t>weight_check, tare_measure 等が使える。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 lIns="25400" rIns="25400" tIns="12700" bIns="12700">
            <a:norm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Windy 風洞実験自動計測システム  —  フォルダ構成ガイド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