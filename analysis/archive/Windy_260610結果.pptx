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260610 実験結果：新セットアップが安定（0608を再現）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8328" y="512064"/>
            <a:ext cx="109728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50" b="0" i="0">
                <a:solidFill>
                  <a:srgbClr val="A8C8F0"/>
                </a:solidFill>
              </a:rPr>
              <a:t>揚力傾斜は ±5° で算出。再マウント後の状態が再現性を持って定着</a:t>
            </a:r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3657600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0292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揚力傾斜 dCl/dα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376C"/>
                </a:solidFill>
              </a:rPr>
              <a:t>4.49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0292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A85"/>
                </a:solidFill>
              </a:rPr>
              <a:t>/rad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" y="2724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</a:rPr>
              <a:t>旧3.94 / 605=4.92 / 608=4.44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206240" y="1005840"/>
            <a:ext cx="3657600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34340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ゼロ揚力角 α₀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34340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376C"/>
                </a:solidFill>
              </a:rPr>
              <a:t>0.75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4340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A85"/>
                </a:solidFill>
              </a:rPr>
              <a:t>°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343400" y="2724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</a:rPr>
              <a:t>旧0.5〜0.7と一致（605=1.44）</a:t>
            </a:r>
          </a:p>
        </p:txBody>
      </p:sp>
      <p:sp>
        <p:nvSpPr>
          <p:cNvPr id="16" name="Rectangle 15"/>
          <p:cNvSpPr/>
          <p:nvPr/>
        </p:nvSpPr>
        <p:spPr>
          <a:xfrm>
            <a:off x="8046720" y="1005840"/>
            <a:ext cx="3749039" cy="228600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83880" y="1097280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217A3C"/>
                </a:solidFill>
              </a:rPr>
              <a:t>最大揚力 / 失速角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83880" y="1508760"/>
            <a:ext cx="338328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 i="0">
                <a:solidFill>
                  <a:srgbClr val="1A376C"/>
                </a:solidFill>
              </a:rPr>
              <a:t>0.947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83880" y="2395728"/>
            <a:ext cx="33832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5A6A85"/>
                </a:solidFill>
              </a:rPr>
              <a:t>@15°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183880" y="2724912"/>
            <a:ext cx="34747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5A6A85"/>
                </a:solidFill>
              </a:rPr>
              <a:t>失速角が旧と同じ15°に復帰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3474720"/>
            <a:ext cx="11430000" cy="278892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02920" y="3566160"/>
            <a:ext cx="10972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ポイント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02920" y="3977639"/>
            <a:ext cx="11064240" cy="21945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900"/>
              </a:spcBef>
            </a:pPr>
            <a:r>
              <a:rPr sz="1350" b="1">
                <a:solidFill>
                  <a:srgbClr val="217A3C"/>
                </a:solidFill>
              </a:rPr>
              <a:t>■ 0610は0608をほぼ再現（傾斜 4.49≈4.44）→ 再マウント後の状態が安定・再現性あり</a:t>
            </a:r>
          </a:p>
          <a:p>
            <a:pPr>
              <a:spcBef>
                <a:spcPts val="900"/>
              </a:spcBef>
            </a:pPr>
            <a:r>
              <a:rPr sz="1350" b="0">
                <a:solidFill>
                  <a:srgbClr val="1A1A2E"/>
                </a:solidFill>
              </a:rPr>
              <a:t>■ α₀=0.75°（旧と一致）、失速角15°（旧と一致）、Cd0=0.0155（旧へ接近）→ 多くの指標が旧と整合</a:t>
            </a:r>
          </a:p>
          <a:p>
            <a:pPr>
              <a:spcBef>
                <a:spcPts val="900"/>
              </a:spcBef>
            </a:pPr>
            <a:r>
              <a:rPr sz="1350" b="0">
                <a:solidFill>
                  <a:srgbClr val="5A6A85"/>
                </a:solidFill>
              </a:rPr>
              <a:t>■ 605→608の大改善（1.25→1.13×）は再マウント。608→610はほぼ同じ＝定着</a:t>
            </a:r>
          </a:p>
          <a:p>
            <a:pPr>
              <a:spcBef>
                <a:spcPts val="900"/>
              </a:spcBef>
            </a:pPr>
            <a:r>
              <a:rPr sz="1350" b="1">
                <a:solidFill>
                  <a:srgbClr val="D96D00"/>
                </a:solidFill>
              </a:rPr>
              <a:t>■ ただし揚力傾斜の残差 1.14× は安定して残る（消えない系統残差）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605 → 608 → 610 の推移（剛体 NACA0012, ±5°）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97280"/>
            <a:ext cx="11430000" cy="384048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133856"/>
            <a:ext cx="19202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実験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377440" y="1133856"/>
            <a:ext cx="10058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mV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83280" y="113385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U[m/s]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0" y="1133856"/>
            <a:ext cx="21031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dCl/dα[/rad]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675120" y="1133856"/>
            <a:ext cx="118872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α₀[°]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863840" y="11338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Cl_max@°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326880" y="1133856"/>
            <a:ext cx="1463040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50" b="1" i="0">
                <a:solidFill>
                  <a:srgbClr val="FFFFFF"/>
                </a:solidFill>
              </a:rPr>
              <a:t>旧比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65760" y="1517904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457200" y="163677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旧0520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377440" y="163677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1165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383280" y="16367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12.23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572000" y="163677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3.93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75120" y="163677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0.72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863840" y="163677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0.808@15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326880" y="163677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1" name="Rectangle 20"/>
          <p:cNvSpPr/>
          <p:nvPr/>
        </p:nvSpPr>
        <p:spPr>
          <a:xfrm>
            <a:off x="365760" y="2084832"/>
            <a:ext cx="11430000" cy="566928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57200" y="2203704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旧0430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377440" y="2203704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1166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3383280" y="22037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12.08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572000" y="2203704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3.91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675120" y="2203704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0.68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863840" y="22037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0.812@15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326880" y="2203704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29" name="Rectangle 28"/>
          <p:cNvSpPr/>
          <p:nvPr/>
        </p:nvSpPr>
        <p:spPr>
          <a:xfrm>
            <a:off x="365760" y="2651760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57200" y="2770632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旧1020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2377440" y="2770632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1163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3383280" y="2770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12.11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572000" y="2770632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3.97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675120" y="2770632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0.52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7863840" y="27706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0.791@15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9326880" y="2770632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—</a:t>
            </a:r>
          </a:p>
        </p:txBody>
      </p:sp>
      <p:sp>
        <p:nvSpPr>
          <p:cNvPr id="37" name="Rectangle 36"/>
          <p:cNvSpPr/>
          <p:nvPr/>
        </p:nvSpPr>
        <p:spPr>
          <a:xfrm>
            <a:off x="365760" y="3218688"/>
            <a:ext cx="11430000" cy="566928"/>
          </a:xfrm>
          <a:prstGeom prst="rect">
            <a:avLst/>
          </a:prstGeom>
          <a:solidFill>
            <a:srgbClr val="ECF1F8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457200" y="3337560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新0605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2377440" y="3337560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1056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338328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11.65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572000" y="3337560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4.92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6675120" y="3337560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1.44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786384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1.045@16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9326880" y="3337560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1.25×</a:t>
            </a:r>
          </a:p>
        </p:txBody>
      </p:sp>
      <p:sp>
        <p:nvSpPr>
          <p:cNvPr id="45" name="Rectangle 44"/>
          <p:cNvSpPr/>
          <p:nvPr/>
        </p:nvSpPr>
        <p:spPr>
          <a:xfrm>
            <a:off x="365760" y="3785616"/>
            <a:ext cx="11430000" cy="566928"/>
          </a:xfrm>
          <a:prstGeom prst="rect">
            <a:avLst/>
          </a:prstGeom>
          <a:solidFill>
            <a:srgbClr val="FFFFFF"/>
          </a:solidFill>
          <a:ln w="9525">
            <a:solidFill>
              <a:srgbClr val="D0DAE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457200" y="3904488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新0608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2377440" y="3904488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1171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3383280" y="3904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12.29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4572000" y="3904488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4.44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6675120" y="3904488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0.93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7863840" y="39044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0.914@16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9326880" y="3904488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1A1A2E"/>
                </a:solidFill>
              </a:rPr>
              <a:t>1.13×</a:t>
            </a:r>
          </a:p>
        </p:txBody>
      </p:sp>
      <p:sp>
        <p:nvSpPr>
          <p:cNvPr id="53" name="Rectangle 52"/>
          <p:cNvSpPr/>
          <p:nvPr/>
        </p:nvSpPr>
        <p:spPr>
          <a:xfrm>
            <a:off x="365760" y="4352544"/>
            <a:ext cx="11430000" cy="566928"/>
          </a:xfrm>
          <a:prstGeom prst="rect">
            <a:avLst/>
          </a:prstGeom>
          <a:solidFill>
            <a:srgbClr val="FDF0DE"/>
          </a:solidFill>
          <a:ln w="2540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457200" y="4471416"/>
            <a:ext cx="1920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新0610 ★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2377440" y="4471416"/>
            <a:ext cx="1005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1161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383280" y="44714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12.20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4572000" y="4471416"/>
            <a:ext cx="2103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4.49</a:t>
            </a:r>
          </a:p>
        </p:txBody>
      </p:sp>
      <p:sp>
        <p:nvSpPr>
          <p:cNvPr id="58" name="TextBox 57"/>
          <p:cNvSpPr txBox="1"/>
          <p:nvPr/>
        </p:nvSpPr>
        <p:spPr>
          <a:xfrm>
            <a:off x="6675120" y="4471416"/>
            <a:ext cx="11887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0.75</a:t>
            </a:r>
          </a:p>
        </p:txBody>
      </p:sp>
      <p:sp>
        <p:nvSpPr>
          <p:cNvPr id="59" name="TextBox 58"/>
          <p:cNvSpPr txBox="1"/>
          <p:nvPr/>
        </p:nvSpPr>
        <p:spPr>
          <a:xfrm>
            <a:off x="7863840" y="44714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0.947@15</a:t>
            </a:r>
          </a:p>
        </p:txBody>
      </p:sp>
      <p:sp>
        <p:nvSpPr>
          <p:cNvPr id="60" name="TextBox 59"/>
          <p:cNvSpPr txBox="1"/>
          <p:nvPr/>
        </p:nvSpPr>
        <p:spPr>
          <a:xfrm>
            <a:off x="9326880" y="4471416"/>
            <a:ext cx="14630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C0392B"/>
                </a:solidFill>
              </a:rPr>
              <a:t>1.14×</a:t>
            </a:r>
          </a:p>
        </p:txBody>
      </p:sp>
      <p:sp>
        <p:nvSpPr>
          <p:cNvPr id="61" name="Rectangle 60"/>
          <p:cNvSpPr/>
          <p:nvPr/>
        </p:nvSpPr>
        <p:spPr>
          <a:xfrm>
            <a:off x="365760" y="5212080"/>
            <a:ext cx="11430000" cy="1051560"/>
          </a:xfrm>
          <a:prstGeom prst="rect">
            <a:avLst/>
          </a:prstGeom>
          <a:solidFill>
            <a:srgbClr val="D6EEDF"/>
          </a:solidFill>
          <a:ln w="19050">
            <a:solidFill>
              <a:srgbClr val="217A3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548640" y="5440680"/>
            <a:ext cx="110642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376C"/>
                </a:solidFill>
              </a:rPr>
              <a:t>傾斜は 605(4.92) → 608(4.44) → 610(4.49) で 608/610 に定着。α₀ は 1.44 → 0.93 → 0.75 と旧へ収束、失速角も15°復帰。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777240"/>
            <a:ext cx="12188952" cy="6080760"/>
          </a:xfrm>
          <a:prstGeom prst="rect">
            <a:avLst/>
          </a:prstGeom>
          <a:solidFill>
            <a:srgbClr val="F4F6F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777240"/>
          </a:xfrm>
          <a:prstGeom prst="rect">
            <a:avLst/>
          </a:prstGeom>
          <a:solidFill>
            <a:srgbClr val="1A376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20040" y="73152"/>
            <a:ext cx="114300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300" b="1" i="0">
                <a:solidFill>
                  <a:srgbClr val="FFFFFF"/>
                </a:solidFill>
              </a:rPr>
              <a:t>考察：残差 1.14× の正体</a:t>
            </a:r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5623560" cy="3200400"/>
          </a:xfrm>
          <a:prstGeom prst="rect">
            <a:avLst/>
          </a:prstGeom>
          <a:solidFill>
            <a:srgbClr val="FFFFFF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0972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1A376C"/>
                </a:solidFill>
              </a:rPr>
              <a:t>α₀・失速・Cd0 は一致、傾斜だけ高い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08760"/>
            <a:ext cx="5349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300" b="0">
                <a:solidFill>
                  <a:srgbClr val="217A3C"/>
                </a:solidFill>
              </a:rPr>
              <a:t>■ α₀=0.75°（旧と一致）：取付角は正しく合った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217A3C"/>
                </a:solidFill>
              </a:rPr>
              <a:t>■ 失速角15°・Cd0も旧へ接近：粗いズレは解消</a:t>
            </a:r>
          </a:p>
          <a:p>
            <a:pPr>
              <a:spcBef>
                <a:spcPts val="600"/>
              </a:spcBef>
            </a:pPr>
            <a:r>
              <a:rPr sz="1300" b="1">
                <a:solidFill>
                  <a:srgbClr val="C0392B"/>
                </a:solidFill>
              </a:rPr>
              <a:t>■ なのに揚力傾斜だけ 14% 高い</a:t>
            </a:r>
          </a:p>
          <a:p>
            <a:pPr>
              <a:spcBef>
                <a:spcPts val="600"/>
              </a:spcBef>
            </a:pPr>
            <a:r>
              <a:rPr sz="1300" b="0">
                <a:solidFill>
                  <a:srgbClr val="1A1A2E"/>
                </a:solidFill>
              </a:rPr>
              <a:t>■ → 「取付角」では説明できない残差</a:t>
            </a:r>
          </a:p>
        </p:txBody>
      </p:sp>
      <p:sp>
        <p:nvSpPr>
          <p:cNvPr id="8" name="Rectangle 7"/>
          <p:cNvSpPr/>
          <p:nvPr/>
        </p:nvSpPr>
        <p:spPr>
          <a:xfrm>
            <a:off x="6172200" y="1005840"/>
            <a:ext cx="5623560" cy="3200400"/>
          </a:xfrm>
          <a:prstGeom prst="rect">
            <a:avLst/>
          </a:prstGeom>
          <a:solidFill>
            <a:srgbClr val="FDF0DE"/>
          </a:solidFill>
          <a:ln w="19050">
            <a:solidFill>
              <a:srgbClr val="D96D0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309360" y="1097280"/>
            <a:ext cx="5349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D96D00"/>
                </a:solidFill>
              </a:rPr>
              <a:t>最有力：マウントのねじれ柔性（空力弾性）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309360" y="1508760"/>
            <a:ext cx="5349240" cy="2560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600"/>
              </a:spcBef>
            </a:pPr>
            <a:r>
              <a:rPr sz="1250" b="1">
                <a:solidFill>
                  <a:srgbClr val="C0392B"/>
                </a:solidFill>
              </a:rPr>
              <a:t>■ 支持系が荷重でねじれ、実効迎角が増える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揚力ゼロ(α₀)では荷重ゼロ→ねじれゼロ→α₀は一致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迎角UP→荷重UP→ねじれUP→傾斜だけ急になる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手掛け水平荷重テストの「撓み・ヒステリシス」とも整合</a:t>
            </a:r>
          </a:p>
          <a:p>
            <a:pPr>
              <a:spcBef>
                <a:spcPts val="600"/>
              </a:spcBef>
            </a:pPr>
            <a:r>
              <a:rPr sz="1250" b="0">
                <a:solidFill>
                  <a:srgbClr val="1A1A2E"/>
                </a:solidFill>
              </a:rPr>
              <a:t>■ 再マウントで剛性変化→605→608で傾斜が動いた事実と一致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65760" y="4389120"/>
            <a:ext cx="11430000" cy="1828800"/>
          </a:xfrm>
          <a:prstGeom prst="rect">
            <a:avLst/>
          </a:prstGeom>
          <a:solidFill>
            <a:srgbClr val="142A55"/>
          </a:solidFill>
          <a:ln w="19050">
            <a:solidFill>
              <a:srgbClr val="2E6EB4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48640" y="4498848"/>
            <a:ext cx="10058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決定的な次のテスト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4892040"/>
            <a:ext cx="1106424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800"/>
              </a:spcBef>
            </a:pPr>
            <a:r>
              <a:rPr sz="1300" b="1">
                <a:solidFill>
                  <a:srgbClr val="FFFFFF"/>
                </a:solidFill>
              </a:rPr>
              <a:t>■ 同一マウントのまま 風速2点 で揚力傾斜を比較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C8F0D8"/>
                </a:solidFill>
              </a:rPr>
              <a:t>■ 空力弾性なら 動圧qが高いほど傾斜が急（発散的）→ 確定</a:t>
            </a:r>
          </a:p>
          <a:p>
            <a:pPr>
              <a:spcBef>
                <a:spcPts val="800"/>
              </a:spcBef>
            </a:pPr>
            <a:r>
              <a:rPr sz="1300" b="0">
                <a:solidFill>
                  <a:srgbClr val="C8F0D8"/>
                </a:solidFill>
              </a:rPr>
              <a:t>■ 確定後：支持系の剛性向上 or 補正、または『どちらが真値か』の再評価（2D理論は2π≈6.28/rad）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