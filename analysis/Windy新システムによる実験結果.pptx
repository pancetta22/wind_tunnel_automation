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640" y="5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D2F4A-A1D0-4349-B225-95238C6D63DD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98F2E-5B49-4C67-A82A-D243C55335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5342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F41D2A-547B-4640-978C-9A9F94E93D7C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BEFA6-9C16-4D76-BB21-DB07A347D5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5921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735982"/>
            <a:ext cx="7772400" cy="1832504"/>
          </a:xfrm>
          <a:prstGeom prst="rect">
            <a:avLst/>
          </a:prstGeom>
        </p:spPr>
        <p:txBody>
          <a:bodyPr anchor="b"/>
          <a:lstStyle>
            <a:lvl1pPr algn="ctr">
              <a:defRPr sz="4000"/>
            </a:lvl1pPr>
          </a:lstStyle>
          <a:p>
            <a:r>
              <a:rPr lang="ja-JP" altLang="en-US" dirty="0"/>
              <a:t>マスター タイトルの</a:t>
            </a:r>
            <a:br>
              <a:rPr lang="en-US" altLang="ja-JP" dirty="0"/>
            </a:br>
            <a:r>
              <a:rPr lang="ja-JP" altLang="en-US" dirty="0"/>
              <a:t>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14800"/>
            <a:ext cx="6858000" cy="1549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0FFAB-1449-48C7-8BD1-05D6B70D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6108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5788"/>
            <a:ext cx="7620000" cy="710141"/>
          </a:xfrm>
          <a:prstGeom prst="rect">
            <a:avLst/>
          </a:prstGeom>
        </p:spPr>
        <p:txBody>
          <a:bodyPr anchor="ctr"/>
          <a:lstStyle>
            <a:lvl1pPr>
              <a:defRPr sz="36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3" y="1066800"/>
            <a:ext cx="8534400" cy="5060883"/>
          </a:xfrm>
          <a:prstGeom prst="rect">
            <a:avLst/>
          </a:prstGeom>
        </p:spPr>
        <p:txBody>
          <a:bodyPr/>
          <a:lstStyle>
            <a:lvl2pPr marL="685800" indent="-228600">
              <a:buFont typeface="Wingdings" panose="05000000000000000000" pitchFamily="2" charset="2"/>
              <a:buChar char="ü"/>
              <a:defRPr/>
            </a:lvl2pPr>
            <a:lvl3pPr marL="1143000" indent="-228600">
              <a:buFont typeface="Wingdings" panose="05000000000000000000" pitchFamily="2" charset="2"/>
              <a:buChar char="Ø"/>
              <a:defRPr/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0FFAB-1449-48C7-8BD1-05D6B70D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-7" y="6206017"/>
            <a:ext cx="9144000" cy="72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tint val="66000"/>
                  <a:satMod val="160000"/>
                </a:schemeClr>
              </a:gs>
              <a:gs pos="50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275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eg"/><Relationship Id="rId5" Type="http://schemas.openxmlformats.org/officeDocument/2006/relationships/image" Target="../media/image2.emf"/><Relationship Id="rId6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30288" y="6356351"/>
            <a:ext cx="2713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06161" y="6356351"/>
            <a:ext cx="1109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5130FFAB-1449-48C7-8BD1-05D6B70D271B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-7" y="956732"/>
            <a:ext cx="9144000" cy="72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tint val="66000"/>
                  <a:satMod val="160000"/>
                </a:schemeClr>
              </a:gs>
              <a:gs pos="50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Picture 12" descr="http://www.aerospace.t.u-tokyo.ac.jp/overview/logo/utaeroastrologo001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976" y="66675"/>
            <a:ext cx="792000" cy="83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39159" y="6287400"/>
            <a:ext cx="2139502" cy="504000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4" y="6287400"/>
            <a:ext cx="1497028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6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NACA0012 Rigid Wing</a:t>
            </a:r>
          </a:p>
          <a:p>
            <a:r>
              <a:t>全データ比較（〜260610）／揚力傾斜の謎の解決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M1　岡本雄哉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65176"/>
            <a:ext cx="6574536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Laboratory Seminar, Imamura Lab &amp; Yamashita Lab
The University of Tokyo, Engineering building 7,  June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データセット一覧（rigid 実験・自動更新）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304495" y="1067104"/>
            <a:ext cx="1234440" cy="395151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071" y="1094536"/>
            <a:ext cx="1161288" cy="3402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データ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8935" y="1067104"/>
            <a:ext cx="914400" cy="395151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5511" y="1094536"/>
            <a:ext cx="841248" cy="3402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日付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3335" y="1067104"/>
            <a:ext cx="1005840" cy="395151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9911" y="1094536"/>
            <a:ext cx="932688" cy="3402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 @ AoA=0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9175" y="1067104"/>
            <a:ext cx="1051560" cy="395151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5751" y="1094536"/>
            <a:ext cx="978408" cy="3402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零揚力迎角
[deg]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0735" y="1067104"/>
            <a:ext cx="1234440" cy="395151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7311" y="1094536"/>
            <a:ext cx="1161288" cy="3402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Clスロープ
[/deg]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5175" y="1067104"/>
            <a:ext cx="1005840" cy="395151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1751" y="1094536"/>
            <a:ext cx="932688" cy="3402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P-M RMSE
(Cl)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1015" y="1067104"/>
            <a:ext cx="1783080" cy="395151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7591" y="1094536"/>
            <a:ext cx="1709928" cy="3402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495" y="1462255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" y="1498831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240521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38935" y="1462255"/>
            <a:ext cx="91440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5511" y="1498831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2024-05-21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53335" y="1462255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9911" y="1498831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-0.0133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9175" y="1462255"/>
            <a:ext cx="105156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5751" y="1498831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0.231°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0735" y="1462255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7311" y="1498831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0.1127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5175" y="1462255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81751" y="1498831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51015" y="1462255"/>
            <a:ext cx="178308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7591" y="1498831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（旧システム）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" y="1857406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071" y="1893982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240603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38935" y="1857406"/>
            <a:ext cx="91440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5511" y="1893982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2024-06-03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53335" y="1857406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89911" y="1893982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-0.0147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59175" y="1857406"/>
            <a:ext cx="105156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95751" y="1893982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0.259°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10735" y="1857406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7311" y="1893982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0.1122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45175" y="1857406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81751" y="1893982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51015" y="1857406"/>
            <a:ext cx="178308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7591" y="1893982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（旧システム）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495" y="2252557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071" y="2289133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241223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38935" y="2252557"/>
            <a:ext cx="91440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75511" y="2289133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2024-12-23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53335" y="2252557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89911" y="2289133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-0.0158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59175" y="2252557"/>
            <a:ext cx="105156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95751" y="2289133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0.287°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10735" y="2252557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47311" y="2289133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0.1132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45175" y="2252557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81751" y="2289133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51015" y="2252557"/>
            <a:ext cx="178308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87591" y="2289133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（旧システム）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4495" y="2647708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1071" y="2684284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250924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38935" y="2647708"/>
            <a:ext cx="91440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75511" y="2684284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2025-09-24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53335" y="2647708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89911" y="2684284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-0.0190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59175" y="2647708"/>
            <a:ext cx="105156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95751" y="2684284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0.346°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10735" y="2647708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47311" y="2684284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0.1119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45175" y="2647708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81751" y="2684284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0.050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51015" y="2647708"/>
            <a:ext cx="178308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87591" y="2684284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（旧システム）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4495" y="3042859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1071" y="3079435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251020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38935" y="3042859"/>
            <a:ext cx="91440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75511" y="3079435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2025-10-20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53335" y="3042859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89911" y="3079435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-0.0292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59175" y="3042859"/>
            <a:ext cx="105156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95751" y="3079435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0.545°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10735" y="3042859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47311" y="3079435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0.1132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45175" y="3042859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81751" y="3079435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0.065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51015" y="3042859"/>
            <a:ext cx="178308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87591" y="3079435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（旧システム）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4495" y="3438010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1071" y="3474586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260424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538935" y="3438010"/>
            <a:ext cx="91440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575511" y="3474586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2026-04-24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53335" y="3438010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89911" y="3474586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-0.0469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59175" y="3438010"/>
            <a:ext cx="105156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95751" y="3474586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0.821°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10735" y="3438010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47311" y="3474586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0.1189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45175" y="3438010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81751" y="3474586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0.091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51015" y="3438010"/>
            <a:ext cx="178308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87591" y="3474586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（旧システム）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4495" y="3833161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1071" y="3869737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260430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38935" y="3833161"/>
            <a:ext cx="91440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75511" y="3869737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2026-04-30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453335" y="3833161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489911" y="3869737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-0.0378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59175" y="3833161"/>
            <a:ext cx="105156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95751" y="3869737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0.679°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10735" y="3833161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47311" y="3869737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0.1102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45175" y="3833161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81751" y="3869737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0.082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51015" y="3833161"/>
            <a:ext cx="178308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87591" y="3869737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（旧システム）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04495" y="4228312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41071" y="4264888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260520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538935" y="4228312"/>
            <a:ext cx="91440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75511" y="4264888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2026-05-20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453335" y="4228312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489911" y="4264888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-0.0424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9175" y="4228312"/>
            <a:ext cx="105156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495751" y="4264888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0.772°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10735" y="4228312"/>
            <a:ext cx="12344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547311" y="4264888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0.1112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745175" y="4228312"/>
            <a:ext cx="100584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781751" y="4264888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0.090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751015" y="4228312"/>
            <a:ext cx="1783080" cy="395151"/>
          </a:xfrm>
          <a:prstGeom prst="rect">
            <a:avLst/>
          </a:prstGeom>
          <a:solidFill>
            <a:srgbClr val="E3EC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787591" y="4264888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（旧システム）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04495" y="4623463"/>
            <a:ext cx="12344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41071" y="4660039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260605_1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38935" y="4623463"/>
            <a:ext cx="91440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575511" y="4660039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2026-06-05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453335" y="4623463"/>
            <a:ext cx="10058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489911" y="4660039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-0.1068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459175" y="4623463"/>
            <a:ext cx="105156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495751" y="4660039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1.473°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510735" y="4623463"/>
            <a:ext cx="12344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547311" y="4660039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0.1649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745175" y="4623463"/>
            <a:ext cx="10058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781751" y="4660039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0.207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751015" y="4623463"/>
            <a:ext cx="178308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787591" y="4660039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（新システム・接触不良）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04495" y="5018614"/>
            <a:ext cx="12344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41071" y="5055190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260605_2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538935" y="5018614"/>
            <a:ext cx="91440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575511" y="5055190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2026-06-05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453335" y="5018614"/>
            <a:ext cx="10058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489911" y="5055190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-0.1011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459175" y="5018614"/>
            <a:ext cx="105156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495751" y="5055190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1.342°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510735" y="5018614"/>
            <a:ext cx="12344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547311" y="5055190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0.1685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45175" y="5018614"/>
            <a:ext cx="10058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781751" y="5055190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0.205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751015" y="5018614"/>
            <a:ext cx="178308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787591" y="5055190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（新システム・接触不良）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04495" y="5413765"/>
            <a:ext cx="12344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41071" y="5450341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260608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538935" y="5413765"/>
            <a:ext cx="91440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575511" y="5450341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2026-06-08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453335" y="5413765"/>
            <a:ext cx="10058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489911" y="5450341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-0.0586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459175" y="5413765"/>
            <a:ext cx="105156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495751" y="5450341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0.949°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510735" y="5413765"/>
            <a:ext cx="12344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47311" y="5450341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0.1365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745175" y="5413765"/>
            <a:ext cx="10058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781751" y="5450341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0.122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751015" y="5413765"/>
            <a:ext cx="178308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787591" y="5450341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（新システム・接触不良）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04495" y="5808916"/>
            <a:ext cx="12344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41071" y="5845492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260610_1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38935" y="5808916"/>
            <a:ext cx="91440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575511" y="5845492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2026-06-10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453335" y="5808916"/>
            <a:ext cx="10058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489911" y="5845492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-0.0481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459175" y="5808916"/>
            <a:ext cx="105156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495751" y="5845492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0.776°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510735" y="5808916"/>
            <a:ext cx="12344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547311" y="5845492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0.1395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745175" y="5808916"/>
            <a:ext cx="100584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781751" y="5845492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0.102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751015" y="5808916"/>
            <a:ext cx="1783080" cy="395151"/>
          </a:xfrm>
          <a:prstGeom prst="rect">
            <a:avLst/>
          </a:prstGeom>
          <a:solidFill>
            <a:srgbClr val="FCE6D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787591" y="5845492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（新システム・接触不良）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04495" y="6204067"/>
            <a:ext cx="1234440" cy="395151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41071" y="6240643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260610_2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538935" y="6204067"/>
            <a:ext cx="914400" cy="395151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575511" y="6240643"/>
            <a:ext cx="84124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2026-06-10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453335" y="6204067"/>
            <a:ext cx="1005840" cy="395151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489911" y="6240643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-0.0428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459175" y="6204067"/>
            <a:ext cx="1051560" cy="395151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495751" y="6240643"/>
            <a:ext cx="97840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0.831°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510735" y="6204067"/>
            <a:ext cx="1234440" cy="395151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547311" y="6240643"/>
            <a:ext cx="11612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0.1084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745175" y="6204067"/>
            <a:ext cx="1005840" cy="395151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5781751" y="6240643"/>
            <a:ext cx="93268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0.091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751015" y="6204067"/>
            <a:ext cx="1783080" cy="395151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787591" y="6240643"/>
            <a:ext cx="1709928" cy="32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（接触不良修正後）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 曲線 全データ比較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075620"/>
            <a:ext cx="5943600" cy="47378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5255" y="1067104"/>
            <a:ext cx="2377440" cy="411480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695" y="1158544"/>
            <a:ext cx="219456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【ポイント】
・赤橙(接触不良)は傾きが過大
・緑(260610_2 修正後)は
　青(旧システム)とほぼ重なる
→ 接触不良の差が修正され、
　新システム＝旧システム相当に。
・線形域の傾き・曲線形状とも
　旧システムと一致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過去剛体翼の平均(=0)からの偏差 と 修正後新システム（260610_2）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225656"/>
            <a:ext cx="5943600" cy="44377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5255" y="1067104"/>
            <a:ext cx="2377440" cy="457200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695" y="1158544"/>
            <a:ext cx="219456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【見方】過去平均=0 基準
（零揚力角基準 AoA−α₀）
・水色帯 = 過去剛体翼(旧)の
　min〜max（平均からの偏差）
・0 線 = 過去剛体翼の平均
・色付き線 = 新システム
　（修正後 260610_2 と今後の新規）
→ 修正後は過去平均(0)の近傍に収まり、
　接触不良時のような大きな差はない。
　（260610_2 の線形傾きは過去の
　 下端付近でわずかに小さめ＝-4.0%）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AoA = −5〜+5° 拡大：線形域の Cl の傾き比較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075620"/>
            <a:ext cx="5943600" cy="47378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5255" y="1067104"/>
            <a:ext cx="2377440" cy="457200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695" y="1158544"/>
            <a:ext cx="219456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【読み方】
線形域（±5°）の Cl の傾き
・赤橙(接触不良)は
　傾きが急（過大）
・緑(260610_2 修正後)は
　青(旧システム)とほぼ重なる
→ 修正後は旧システムと
　同じ傾きに戻った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 スロープ（dCl/dAoA_mod）の時系列変化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655318"/>
            <a:ext cx="5943600" cy="29383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5255" y="1067104"/>
            <a:ext cx="2377440" cy="411480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695" y="1158544"/>
            <a:ext cx="219456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【揚力傾斜 dCl/dα】
・旧システム: 0.110〜0.112/deg
・接触不良(新): 0.165〜0.168
　（差圧mV過小で過大に出た）
・修正後 260610_2: 0.1084
点線: 2π/rad = 0.1097/deg
→ 接触不良を修正すると、新システムの
　傾斜は旧システムとほぼ一致。
　新旧の差は解消された。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新システムの揚力傾斜 − 過去剛体翼の平均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530162"/>
            <a:ext cx="5943600" cy="32801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5255" y="1067104"/>
            <a:ext cx="2377440" cy="448056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695" y="1158544"/>
            <a:ext cx="219456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【過去平均との差】
過去剛体翼(旧システム)の
平均傾斜 = 0.1129/deg
（±1σ = 0.0024）
・接触不良(新)は ++0.052〜
　と平均を大きく上回る
・修正後 260610_2: -0.0045
　（-4.0%）= ほぼ過去平均
→ 修正後の新システムは過去剛体翼
　平均とほぼ一致（±1σ帯内）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正負掃引の非対称性（P-M 対称性誤差）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074492"/>
            <a:ext cx="4160520" cy="318562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895" y="1074492"/>
            <a:ext cx="4160520" cy="3185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4495" y="4404664"/>
            <a:ext cx="8534095" cy="160020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5935" y="4496104"/>
            <a:ext cx="8351215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→ 零揚力迎角を基準に補正すると（b）、取り付け角オフセット α₀ による
　見かけ上の非対称性が除去され、実質的な空力非対称性を評価できる。
→ 修正後の新システム(260610_2)の P-M RMSE は旧システムと同程度。新旧の差は解消し信頼性は回復。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（補足）零揚力迎角 α₀ について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656144"/>
            <a:ext cx="5943600" cy="29367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5255" y="1067104"/>
            <a:ext cx="2377440" cy="429768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695" y="1158544"/>
            <a:ext cx="21945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【補足：α₀ の見かけのずれ】
・0605 の実験のみ AoA=0 の
　原点パルスを 11250 に設定
・その他は全て 11025
　（差 225 pulse ÷ 250 = 0.9°）
→ 0605 の α₀(1.47/1.34°)が
　大きいのは主にこの原点設定差。
　0.9°差し引くと旧域(0.5〜0.8°)。
※ 原点を 11025 に統一すれば
　α₀ も新旧でほぼ一致。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304495" y="1067104"/>
            <a:ext cx="8534095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495" y="1067104"/>
            <a:ext cx="64008" cy="1097280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1655" y="1103680"/>
            <a:ext cx="835121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① 新旧の差の正体 ＝ 差圧デジボルの接触不良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655" y="1414576"/>
            <a:ext cx="8351215" cy="6949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接触不良時(260605_1/_2・260608・260610_1)は Cl 傾斜が旧システム(0.110〜0.112/deg)より大幅に過大(0.165/deg 等)。
原因：差圧mVが接触不良で過小 → 風速U・動圧qが過小 → Cl=L/q が過大に。新旧の見かけの差はこれが正体だった。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495" y="2219248"/>
            <a:ext cx="8534095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495" y="2219248"/>
            <a:ext cx="64008" cy="1097280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" y="2255824"/>
            <a:ext cx="835121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② 接触を修正すると新システムは旧システムとほぼ一致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" y="2566720"/>
            <a:ext cx="8351215" cy="6949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接触を修正した 260610_2（真mV≈1320, U≈13.1m/s）の傾斜 = 0.1084/deg ≒ 旧システム(0.110〜0.112)・2π。
→ 接触不良の差が修正され、新システムでも旧システムとほぼ同じ空力データが得られた。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495" y="3371392"/>
            <a:ext cx="8534095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4495" y="3371392"/>
            <a:ext cx="64008" cy="1097280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" y="3407968"/>
            <a:ext cx="835121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③ 零揚力迎角 α₀ の差は原点パルス設定の違い（補足）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" y="3718864"/>
            <a:ext cx="8351215" cy="6949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0605 のみ AoA=0 の原点を 11250、その他は全て 11025（差 225pulse = 0.9°）。
0605 の α₀(1.47/1.34°)が大きいのは主にこの設定差で、0.9°差し引けば旧域。原点統一で新旧一致。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495" y="4523536"/>
            <a:ext cx="8534095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495" y="4523536"/>
            <a:ext cx="64008" cy="1097280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" y="4560112"/>
            <a:ext cx="835121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④ 結論・今後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" y="4871008"/>
            <a:ext cx="8351215" cy="6949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新システムは接触不良さえ除けば旧システムと同等の空力データを再現。計測前に『差圧mVの妥当性確認』を追加。
マウント弾性/センサ/定格/後処理は全て無罪と確認済み。過去の接触不良データも真mVが分かれば補正可能。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</TotalTime>
  <Words>12</Words>
  <Application>Microsoft Macintosh PowerPoint</Application>
  <PresentationFormat>画面に合わせる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Arial</vt:lpstr>
      <vt:lpstr>Calibri</vt:lpstr>
      <vt:lpstr>Wingdings</vt:lpstr>
      <vt:lpstr>Office テーマ</vt:lpstr>
      <vt:lpstr>タイトル</vt:lpstr>
      <vt:lpstr>Topic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Taro</dc:creator>
  <cp:lastModifiedBy>岡本　雄哉</cp:lastModifiedBy>
  <cp:revision>65</cp:revision>
  <dcterms:created xsi:type="dcterms:W3CDTF">2015-09-16T05:55:35Z</dcterms:created>
  <dcterms:modified xsi:type="dcterms:W3CDTF">2026-04-27T06:10:25Z</dcterms:modified>
</cp:coreProperties>
</file>