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3891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Windy 風洞実験
自動計測システム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8C8F0"/>
                </a:solidFill>
              </a:rPr>
              <a:t>操作マニュアル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931920"/>
            <a:ext cx="7589520" cy="45720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run_experiment.m  |  MATLAB R2022a 以降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A1A2E"/>
                </a:solidFill>
              </a:rPr>
              <a:t>迎角ステージ制御・6軸センサ計測・デジボル計測を統合自動化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全体フロー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実験開始から結果グラフ出力まで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1540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7260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7260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事前準備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config.json 設定
機器の接続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8356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2948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58668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8668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388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スクリプト起動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4388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run_experiment を
MATLABで実行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9764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4356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80076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80076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5796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実験情報を入力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5796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フォルダ名・気温気圧
最大迎角・開始フェーズ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1172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5764" y="1417320"/>
            <a:ext cx="1920240" cy="146304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01484" y="1463040"/>
            <a:ext cx="347472" cy="34747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01484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7204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EB4"/>
                </a:solidFill>
              </a:rPr>
              <a:t>4フェーズ連続計測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204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Pofst→Mofst
→Pdata→Mdata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2580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7172" y="1417320"/>
            <a:ext cx="1920240" cy="146304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22892" y="1463040"/>
            <a:ext cx="347472" cy="34747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22892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612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EB4"/>
                </a:solidFill>
              </a:rPr>
              <a:t>自動後処理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8612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windspeed.csv生成
空力係数グラフ出力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246120"/>
            <a:ext cx="1417320" cy="292608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2735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  👤 ユーザー操作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246120"/>
            <a:ext cx="1600200" cy="292608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03120" y="324612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E6EB4"/>
                </a:solidFill>
              </a:rPr>
              <a:t>  ⚙ </a:t>
            </a:r>
            <a:r>
              <a:rPr sz="1100" b="1" i="0" dirty="0" err="1">
                <a:solidFill>
                  <a:srgbClr val="2E6EB4"/>
                </a:solidFill>
              </a:rPr>
              <a:t>プログラム自動実行</a:t>
            </a:r>
            <a:endParaRPr sz="1100" b="1" i="0" dirty="0">
              <a:solidFill>
                <a:srgbClr val="2E6EB4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65760" y="3703320"/>
            <a:ext cx="11457432" cy="256032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794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⚙ 4フェーズとは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Pofst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正迎角・無風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0°→+1°→0°→…→+max°→0°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ゼロ点補正データ（風なし）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43250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44418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Mofst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4418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負迎角・無風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4418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0°→-1°→0°→…→-max°→0°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4418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ゼロ点補正データ（風なし）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4748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5916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Pdata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5916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正迎角・有風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85916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0°→+1°→0°→…→+max°→0°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5916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実験データ（風あり）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6246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7414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Mdata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7414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負迎角・有風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7414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0°→-1°→0°→…→-max°→0°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7414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実験データ（風あり）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① 事前準備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実験前に1回だけ確認する設定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212080" cy="36576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📄 config.json 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output_dir   : データ保存先のルートフォルダ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           例) "C:/Users/xxx/WindyData"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leptrino_port : Leptrino の COM ポート番号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qt_adl1_port  : 迎角ステージの COM ポート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r6441b_port   : デジボルの COM ポート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python_exe    : Python の実行ファイルパス</a:t>
            </a:r>
          </a:p>
          <a:p>
            <a:pPr>
              <a:spcBef>
                <a:spcPts val="200"/>
              </a:spcBef>
            </a:pPr>
            <a:endParaRPr sz="120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calib_a / calib_b : 較正定数（通常変更不要）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960120"/>
            <a:ext cx="5943600" cy="36576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100584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🔌 機器の接続確認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252728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① Leptrino 6軸センサ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USB-RS232C 変換経由で PC に接続</a:t>
            </a:r>
          </a:p>
          <a:p>
            <a:pPr>
              <a:spcBef>
                <a:spcPts val="200"/>
              </a:spcBef>
            </a:pPr>
            <a:endParaRPr sz="120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② 迎角ステージ（QT-ADL1）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USB-RS232C 変換経由で PC に接続</a:t>
            </a:r>
          </a:p>
          <a:p>
            <a:pPr>
              <a:spcBef>
                <a:spcPts val="200"/>
              </a:spcBef>
            </a:pPr>
            <a:endParaRPr sz="120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③ R6441B デジボル（差圧センサ）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RS-232C で PC に接続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80"/>
            <a:ext cx="11430000" cy="82296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6D00"/>
                </a:solidFill>
              </a:rPr>
              <a:t>⚠  注意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47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dirty="0" err="1">
                <a:solidFill>
                  <a:srgbClr val="1A1A2E"/>
                </a:solidFill>
              </a:rPr>
              <a:t>config.json</a:t>
            </a:r>
            <a:r>
              <a:rPr sz="1200" dirty="0">
                <a:solidFill>
                  <a:srgbClr val="1A1A2E"/>
                </a:solidFill>
              </a:rPr>
              <a:t> </a:t>
            </a:r>
            <a:r>
              <a:rPr sz="1200" dirty="0" err="1">
                <a:solidFill>
                  <a:srgbClr val="1A1A2E"/>
                </a:solidFill>
              </a:rPr>
              <a:t>の</a:t>
            </a:r>
            <a:r>
              <a:rPr sz="1200" dirty="0">
                <a:solidFill>
                  <a:srgbClr val="1A1A2E"/>
                </a:solidFill>
              </a:rPr>
              <a:t> </a:t>
            </a:r>
            <a:r>
              <a:rPr sz="1200" dirty="0" err="1">
                <a:solidFill>
                  <a:srgbClr val="1A1A2E"/>
                </a:solidFill>
              </a:rPr>
              <a:t>output_dir</a:t>
            </a:r>
            <a:r>
              <a:rPr sz="1200" dirty="0">
                <a:solidFill>
                  <a:srgbClr val="1A1A2E"/>
                </a:solidFill>
              </a:rPr>
              <a:t> </a:t>
            </a:r>
            <a:r>
              <a:rPr sz="1200" dirty="0" err="1">
                <a:solidFill>
                  <a:srgbClr val="1A1A2E"/>
                </a:solidFill>
              </a:rPr>
              <a:t>は</a:t>
            </a:r>
            <a:r>
              <a:rPr sz="1200" dirty="0">
                <a:solidFill>
                  <a:srgbClr val="1A1A2E"/>
                </a:solidFill>
              </a:rPr>
              <a:t> "</a:t>
            </a:r>
            <a:r>
              <a:rPr sz="1200" dirty="0" err="1">
                <a:solidFill>
                  <a:srgbClr val="1A1A2E"/>
                </a:solidFill>
              </a:rPr>
              <a:t>WindyData</a:t>
            </a:r>
            <a:r>
              <a:rPr sz="1200" dirty="0">
                <a:solidFill>
                  <a:srgbClr val="1A1A2E"/>
                </a:solidFill>
              </a:rPr>
              <a:t>" </a:t>
            </a:r>
            <a:r>
              <a:rPr sz="1200" dirty="0" err="1">
                <a:solidFill>
                  <a:srgbClr val="1A1A2E"/>
                </a:solidFill>
              </a:rPr>
              <a:t>のルートフォルダを指定（日付サブフォルダは含めない</a:t>
            </a:r>
            <a:r>
              <a:rPr sz="1200" dirty="0">
                <a:solidFill>
                  <a:srgbClr val="1A1A2E"/>
                </a:solidFill>
              </a:rPr>
              <a:t>）</a:t>
            </a:r>
          </a:p>
          <a:p>
            <a:pPr>
              <a:spcBef>
                <a:spcPts val="200"/>
              </a:spcBef>
            </a:pPr>
            <a:r>
              <a:rPr sz="1200" dirty="0" err="1">
                <a:solidFill>
                  <a:srgbClr val="1A1A2E"/>
                </a:solidFill>
              </a:rPr>
              <a:t>実験ごとに自動でサブフォルダが作成されます</a:t>
            </a:r>
            <a:endParaRPr sz="1200" dirty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② スクリプト起動 ＆ 実験情報の入力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MATLAB コマンドウィンドウで操作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FD97F"/>
                </a:solidFill>
              </a:rPr>
              <a:t>&gt;&gt; run_experiment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実験フォルダ名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実験フォルダ名: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260605_rigid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WindyData の直下に作成されるフォルダ名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形式の例: 260605_rigid  /  260605_flex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使用不可文字:  / \ : * ? " &lt; &gt; |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27832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016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気温・気圧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7832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9272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気温 [℃]: 
気圧 [mmHg]: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25.3
758.0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7832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9272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空気密度 ρ が自動計算される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水密度もKellの式で自動計算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全フェーズで共通（1回のみ入力）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9904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9904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最大迎角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9904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81344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最大迎角 [度, 1-30]: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30 ← Enter のみで 30°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9904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81344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 〜 30 の整数で入力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4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入力した角度まで 1°刻みで計測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1フェーズあたり 2×max+1 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51976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51976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開始フェーズ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51976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43416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開始フェーズ [1-4]: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3416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1 ← Enter のみで Pofst から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51976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43416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通常は Enter（=1: Pofst から）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416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途中再開時は 2〜4 を選択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416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1:Pofst  2:Mofst  3:Pdata  4:Mdata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入力後にプログラムが自動で行うこと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機器接続・フォルダ作成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22860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自動処理の流れ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1.  迎角ステージ（QT-ADL1）に接続  →  ホームポジションへ自動復帰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2.  Leptrino 6軸センサの接続を確認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3.  R6441B デジボルに接続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4.  WindyMonitor（モニター画面）を起動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5.  experiment_log.json を保存（気温・気圧・空気密度など）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11430000" cy="324612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📁 自動作成されるフォルダ構造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8"/>
            <a:ext cx="11155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WindyData/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└── 260605_rigid/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    ├── data/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├── 20260605_143022_260605_Pofst_01.00.csv   ← 6軸センサCSV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├── 20260605_143022_260605_Pofst_01.00_volt_raw.csv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└──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20260605_Pofst_volt_summary.csv      ← 差圧電圧サマリー（フェーズ毎）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20260605_experiment_log.json          ← 気温・気圧・校正定数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windspeed.csv                         ← 後処理で自動生成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└── Cl.png / Cd.png / ...                ← 後処理で自動生成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各フェーズ開始時のユーザー操作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フェーズは Pofst→Mofst→Pdata→Mdata の順に自動進行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486400" cy="51663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無風フェーズ（Pofst / Mofst）の確認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52120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44168"/>
            <a:ext cx="640080" cy="25603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3441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3441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電圧オフセット計測の確認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36776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「差圧センサの電圧オフセットを
今計測しますか？ [y/N]: 」
→ y を入力：5秒間の無風電圧を自動計測
→ N を入力：config.json の設定値を使用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640080" cy="25603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84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ブロワー停止の確認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77056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「ブロワーが停止していることを
確認してください。
Enter を押してください: 」
→ ブロワー停止を確認して Enter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960120"/>
            <a:ext cx="5669280" cy="51663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有風フェーズ（Pdata / Mdata）の確認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252728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344168"/>
            <a:ext cx="640080" cy="25603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3441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3441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ブロワー起動・風速安定待ち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636776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「ブロワーを起動し、風速が安定した
ことを確認してください。
Enter を押してください: 」
→ ブロワーを起動
→ 風速が安定するのを確認
→ Enter を押す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135624"/>
            <a:ext cx="11430000" cy="667512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1676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D96D00"/>
                </a:solidFill>
              </a:rPr>
              <a:t>⚠  </a:t>
            </a:r>
            <a:r>
              <a:rPr sz="1100" b="1" i="0" dirty="0" err="1">
                <a:solidFill>
                  <a:srgbClr val="D96D00"/>
                </a:solidFill>
              </a:rPr>
              <a:t>有風フェーズのブロワー操作は</a:t>
            </a:r>
            <a:r>
              <a:rPr sz="1100" b="1" i="0" dirty="0">
                <a:solidFill>
                  <a:srgbClr val="D96D00"/>
                </a:solidFill>
              </a:rPr>
              <a:t> 1回だけ（Pdata開始前のみ）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1A1A2E"/>
                </a:solidFill>
              </a:rPr>
              <a:t>Mdata </a:t>
            </a:r>
            <a:r>
              <a:rPr sz="1100" dirty="0" err="1">
                <a:solidFill>
                  <a:srgbClr val="1A1A2E"/>
                </a:solidFill>
              </a:rPr>
              <a:t>はそのまま風を出し続けた状態で自動継続されます</a:t>
            </a:r>
            <a:r>
              <a:rPr sz="1100" dirty="0">
                <a:solidFill>
                  <a:srgbClr val="1A1A2E"/>
                </a:solidFill>
              </a:rPr>
              <a:t>。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A1A2E"/>
                </a:solidFill>
              </a:rPr>
              <a:t>Mdata </a:t>
            </a:r>
            <a:r>
              <a:rPr sz="1100" dirty="0" err="1">
                <a:solidFill>
                  <a:srgbClr val="1A1A2E"/>
                </a:solidFill>
              </a:rPr>
              <a:t>終了後のブロワー停止はユーザーが手動で行ってください</a:t>
            </a:r>
            <a:r>
              <a:rPr sz="1100" dirty="0">
                <a:solidFill>
                  <a:srgbClr val="1A1A2E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1計測点ごとにプログラムが自動で行うこと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各迎角で繰り返される処理（例: 0°→+1°→0°→+2°→0°…）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迎角ステージ移動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指定角度へステージを自動移動
位置が確定するまで待機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912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振動収束待ち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ステージ停止後 {angle_settle_sec} 秒待機
（config.json の angle_settle_sec で設定）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4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38344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38344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6軸センサ計測開始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leptrino_server.py を
バックグラウンドで起動
CSVへのストリーミング記録を開始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6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51776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51776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デジボル計測ループ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6軸センサが規定量に達するまで
R6441Bに繰り返しポーリング
差圧電圧を収集（~10サンプル/秒）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19488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65208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65208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データ保存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6軸センサCSV を確認
差圧電圧を volt_raw.csv に保存
volt_summary.csv に1行追記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43400"/>
            <a:ext cx="11430000" cy="192024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モニター画面（WindyMonitor）の表示内容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36008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・現在の迎角 / 進捗バー（何点目/何点中）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・6軸センサの振動波形（直近0.5秒をオシロスコープ的に表示）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・差圧電圧のリアルタイム値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・ファイルサイズ進捗バー（6軸センサ計測の完了度を視覚化）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・「一時停止」ボタン（クリックで計測を一時停止・再開できる）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エラー発生時の対処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計測中にエラーが起きても対話的に回復できる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22960"/>
            <a:ext cx="11430000" cy="1143000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C0392B"/>
                </a:solidFill>
              </a:rPr>
              <a:t>⚠  </a:t>
            </a:r>
            <a:r>
              <a:rPr sz="1200" b="1" i="0" dirty="0" err="1">
                <a:solidFill>
                  <a:srgbClr val="C0392B"/>
                </a:solidFill>
              </a:rPr>
              <a:t>エラー発生時にプログラムが表示するメッセージ（例</a:t>
            </a:r>
            <a:r>
              <a:rPr sz="1200" b="1" i="0" dirty="0">
                <a:solidFill>
                  <a:srgbClr val="C0392B"/>
                </a:solidFill>
              </a:rPr>
              <a:t>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494" y="103784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</a:rPr>
              <a:t>════════════════════════════════════════
  [</a:t>
            </a:r>
            <a:r>
              <a:rPr sz="1050" b="0" i="0" dirty="0" err="1">
                <a:solidFill>
                  <a:srgbClr val="1A1A2E"/>
                </a:solidFill>
              </a:rPr>
              <a:t>エラ</a:t>
            </a:r>
            <a:r>
              <a:rPr sz="1050" b="0" i="0" dirty="0">
                <a:solidFill>
                  <a:srgbClr val="1A1A2E"/>
                </a:solidFill>
              </a:rPr>
              <a:t>ー] </a:t>
            </a:r>
            <a:r>
              <a:rPr sz="1050" b="0" i="0" dirty="0" err="1">
                <a:solidFill>
                  <a:srgbClr val="1A1A2E"/>
                </a:solidFill>
              </a:rPr>
              <a:t>計測点</a:t>
            </a:r>
            <a:r>
              <a:rPr sz="1050" b="0" i="0" dirty="0">
                <a:solidFill>
                  <a:srgbClr val="1A1A2E"/>
                </a:solidFill>
              </a:rPr>
              <a:t> 5/61 </a:t>
            </a:r>
            <a:r>
              <a:rPr sz="1050" b="0" i="0" dirty="0" err="1">
                <a:solidFill>
                  <a:srgbClr val="1A1A2E"/>
                </a:solidFill>
              </a:rPr>
              <a:t>でエラーが発生しました</a:t>
            </a:r>
            <a:r>
              <a:rPr sz="1050" b="0" i="0" dirty="0">
                <a:solidFill>
                  <a:srgbClr val="1A1A2E"/>
                </a:solidFill>
              </a:rPr>
              <a:t>
  </a:t>
            </a:r>
            <a:r>
              <a:rPr sz="1050" b="0" i="0" dirty="0" err="1">
                <a:solidFill>
                  <a:srgbClr val="1A1A2E"/>
                </a:solidFill>
              </a:rPr>
              <a:t>フェーズ</a:t>
            </a:r>
            <a:r>
              <a:rPr sz="1050" b="0" i="0" dirty="0">
                <a:solidFill>
                  <a:srgbClr val="1A1A2E"/>
                </a:solidFill>
              </a:rPr>
              <a:t>: </a:t>
            </a:r>
            <a:r>
              <a:rPr sz="1050" b="0" i="0" dirty="0" err="1">
                <a:solidFill>
                  <a:srgbClr val="1A1A2E"/>
                </a:solidFill>
              </a:rPr>
              <a:t>Pdata</a:t>
            </a:r>
            <a:r>
              <a:rPr sz="1050" b="0" i="0" dirty="0">
                <a:solidFill>
                  <a:srgbClr val="1A1A2E"/>
                </a:solidFill>
              </a:rPr>
              <a:t>  </a:t>
            </a:r>
            <a:r>
              <a:rPr sz="1050" b="0" i="0" dirty="0" err="1">
                <a:solidFill>
                  <a:srgbClr val="1A1A2E"/>
                </a:solidFill>
              </a:rPr>
              <a:t>内容</a:t>
            </a:r>
            <a:r>
              <a:rPr sz="1050" b="0" i="0" dirty="0">
                <a:solidFill>
                  <a:srgbClr val="1A1A2E"/>
                </a:solidFill>
              </a:rPr>
              <a:t>: Timeout reading from serial port
════════════════════════════════════════
</a:t>
            </a:r>
            <a:r>
              <a:rPr sz="1050" b="0" i="0" dirty="0" err="1">
                <a:solidFill>
                  <a:srgbClr val="1A1A2E"/>
                </a:solidFill>
              </a:rPr>
              <a:t>どうしますか</a:t>
            </a:r>
            <a:r>
              <a:rPr sz="1050" b="0" i="0" dirty="0">
                <a:solidFill>
                  <a:srgbClr val="1A1A2E"/>
                </a:solidFill>
              </a:rPr>
              <a:t>？  R: </a:t>
            </a:r>
            <a:r>
              <a:rPr sz="1050" b="0" i="0" dirty="0" err="1">
                <a:solidFill>
                  <a:srgbClr val="1A1A2E"/>
                </a:solidFill>
              </a:rPr>
              <a:t>再試行</a:t>
            </a:r>
            <a:r>
              <a:rPr sz="1050" b="0" i="0" dirty="0">
                <a:solidFill>
                  <a:srgbClr val="1A1A2E"/>
                </a:solidFill>
              </a:rPr>
              <a:t>  S: </a:t>
            </a:r>
            <a:r>
              <a:rPr sz="1050" b="0" i="0" dirty="0" err="1">
                <a:solidFill>
                  <a:srgbClr val="1A1A2E"/>
                </a:solidFill>
              </a:rPr>
              <a:t>スキップ</a:t>
            </a:r>
            <a:r>
              <a:rPr sz="1050" b="0" i="0" dirty="0">
                <a:solidFill>
                  <a:srgbClr val="1A1A2E"/>
                </a:solidFill>
              </a:rPr>
              <a:t>  P: </a:t>
            </a:r>
            <a:r>
              <a:rPr sz="1050" b="0" i="0" dirty="0" err="1">
                <a:solidFill>
                  <a:srgbClr val="1A1A2E"/>
                </a:solidFill>
              </a:rPr>
              <a:t>フェーズ再開</a:t>
            </a:r>
            <a:r>
              <a:rPr sz="1050" b="0" i="0" dirty="0">
                <a:solidFill>
                  <a:srgbClr val="1A1A2E"/>
                </a:solidFill>
              </a:rPr>
              <a:t>  C: </a:t>
            </a:r>
            <a:r>
              <a:rPr sz="1050" b="0" i="0" dirty="0" err="1">
                <a:solidFill>
                  <a:srgbClr val="1A1A2E"/>
                </a:solidFill>
              </a:rPr>
              <a:t>フェーズ選択</a:t>
            </a:r>
            <a:r>
              <a:rPr sz="1050" b="0" i="0" dirty="0">
                <a:solidFill>
                  <a:srgbClr val="1A1A2E"/>
                </a:solidFill>
              </a:rPr>
              <a:t>  Q: </a:t>
            </a:r>
            <a:r>
              <a:rPr sz="1050" b="0" i="0" dirty="0" err="1">
                <a:solidFill>
                  <a:srgbClr val="1A1A2E"/>
                </a:solidFill>
              </a:rPr>
              <a:t>終了</a:t>
            </a:r>
            <a:endParaRPr sz="1050" b="0" i="0" dirty="0">
              <a:solidFill>
                <a:srgbClr val="1A1A2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2148840" cy="64008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再試行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この計測点をもう一度実行する
（機器の瞬間的なエラー時に使用）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6A0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06040" y="2103120"/>
            <a:ext cx="2148840" cy="640080"/>
          </a:xfrm>
          <a:prstGeom prst="rect">
            <a:avLst/>
          </a:prstGeom>
          <a:solidFill>
            <a:srgbClr val="6A0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604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スキップ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この点を飛ばして次の計測点へ進む
（1点欠損でよい場合）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2148840" cy="640080"/>
          </a:xfrm>
          <a:prstGeom prst="rect">
            <a:avLst/>
          </a:prstGeom>
          <a:solidFill>
            <a:srgbClr val="D9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フェーズ
再開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このフェーズを最初からやり直す
部分データは自動削除される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8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86600" y="2103120"/>
            <a:ext cx="2148840" cy="640080"/>
          </a:xfrm>
          <a:prstGeom prst="rect">
            <a:avLst/>
          </a:prstGeom>
          <a:solidFill>
            <a:srgbClr val="8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フェーズ
選択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やり直すフェーズ番号を選ぶ
（前のフェーズからやり直す場合）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26880" y="2103120"/>
            <a:ext cx="214884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終了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実験を中止してプログラムを終了
機器の接続は自動でクリーンアップ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91440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532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6D00"/>
                </a:solidFill>
              </a:rPr>
              <a:t>💡 フェーズ再開（P/C）時の部分データ自動削除について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7900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P または C でフェーズを最初からやり直す際、data/ フォルダ内の当該フェーズのファイルを自動削除してから再計測します。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後処理（calc_force.py）に余分なデータが混入することを防ぐためです。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全フェーズ完了後：自動後処理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make_windspeed.py → calc_force.py を順次実行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1307592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Step 1：windspeed.csv の生成（make_windspeed.py）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差圧電圧サマリ</a:t>
            </a:r>
            <a:r>
              <a:rPr sz="1300" dirty="0">
                <a:solidFill>
                  <a:srgbClr val="1A1A2E"/>
                </a:solidFill>
              </a:rPr>
              <a:t>ー（</a:t>
            </a:r>
            <a:r>
              <a:rPr sz="1300" dirty="0" err="1">
                <a:solidFill>
                  <a:srgbClr val="1A1A2E"/>
                </a:solidFill>
              </a:rPr>
              <a:t>Pdata</a:t>
            </a:r>
            <a:r>
              <a:rPr sz="1300" dirty="0">
                <a:solidFill>
                  <a:srgbClr val="1A1A2E"/>
                </a:solidFill>
              </a:rPr>
              <a:t> / </a:t>
            </a:r>
            <a:r>
              <a:rPr sz="1300" dirty="0" err="1">
                <a:solidFill>
                  <a:srgbClr val="1A1A2E"/>
                </a:solidFill>
              </a:rPr>
              <a:t>Mdata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の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volt_summary.csv）を読み込む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experiment_log.json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から気温・気圧・校正定数を取得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各計測点の差圧電圧</a:t>
            </a:r>
            <a:r>
              <a:rPr sz="1300" dirty="0">
                <a:solidFill>
                  <a:srgbClr val="1A1A2E"/>
                </a:solidFill>
              </a:rPr>
              <a:t> → </a:t>
            </a:r>
            <a:r>
              <a:rPr sz="1300" dirty="0" err="1">
                <a:solidFill>
                  <a:srgbClr val="1A1A2E"/>
                </a:solidFill>
              </a:rPr>
              <a:t>動圧水柱高さ</a:t>
            </a:r>
            <a:r>
              <a:rPr sz="1300" dirty="0">
                <a:solidFill>
                  <a:srgbClr val="1A1A2E"/>
                </a:solidFill>
              </a:rPr>
              <a:t> → </a:t>
            </a:r>
            <a:r>
              <a:rPr sz="1300" dirty="0" err="1">
                <a:solidFill>
                  <a:srgbClr val="1A1A2E"/>
                </a:solidFill>
              </a:rPr>
              <a:t>風速</a:t>
            </a:r>
            <a:r>
              <a:rPr sz="1300" dirty="0">
                <a:solidFill>
                  <a:srgbClr val="1A1A2E"/>
                </a:solidFill>
              </a:rPr>
              <a:t> U [m/s] </a:t>
            </a:r>
            <a:r>
              <a:rPr sz="1300" dirty="0" err="1">
                <a:solidFill>
                  <a:srgbClr val="1A1A2E"/>
                </a:solidFill>
              </a:rPr>
              <a:t>を計算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windspeed.csv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として実験フォルダに保存</a:t>
            </a:r>
            <a:endParaRPr sz="1300" dirty="0">
              <a:solidFill>
                <a:srgbClr val="1A1A2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381299"/>
            <a:ext cx="11430000" cy="1504901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597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E6EB4"/>
                </a:solidFill>
              </a:rPr>
              <a:t>⚙ Step 2：空力係数グラフの生成（calc_force.py）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07208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windspeed.csv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と</a:t>
            </a:r>
            <a:r>
              <a:rPr sz="1300" dirty="0">
                <a:solidFill>
                  <a:srgbClr val="1A1A2E"/>
                </a:solidFill>
              </a:rPr>
              <a:t> data/ </a:t>
            </a:r>
            <a:r>
              <a:rPr sz="1300" dirty="0" err="1">
                <a:solidFill>
                  <a:srgbClr val="1A1A2E"/>
                </a:solidFill>
              </a:rPr>
              <a:t>内の</a:t>
            </a:r>
            <a:r>
              <a:rPr sz="1300" dirty="0">
                <a:solidFill>
                  <a:srgbClr val="1A1A2E"/>
                </a:solidFill>
              </a:rPr>
              <a:t> 6軸センサ CSV </a:t>
            </a:r>
            <a:r>
              <a:rPr sz="1300" dirty="0" err="1">
                <a:solidFill>
                  <a:srgbClr val="1A1A2E"/>
                </a:solidFill>
              </a:rPr>
              <a:t>を読み込む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オフセット補正（Pofst</a:t>
            </a:r>
            <a:r>
              <a:rPr sz="1300" dirty="0">
                <a:solidFill>
                  <a:srgbClr val="1A1A2E"/>
                </a:solidFill>
              </a:rPr>
              <a:t> / </a:t>
            </a:r>
            <a:r>
              <a:rPr sz="1300" dirty="0" err="1">
                <a:solidFill>
                  <a:srgbClr val="1A1A2E"/>
                </a:solidFill>
              </a:rPr>
              <a:t>Mofst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データを差し引き）を実施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1A2E"/>
                </a:solidFill>
              </a:rPr>
              <a:t>Cl, Cd, Cm </a:t>
            </a:r>
            <a:r>
              <a:rPr sz="1300" dirty="0" err="1">
                <a:solidFill>
                  <a:srgbClr val="1A1A2E"/>
                </a:solidFill>
              </a:rPr>
              <a:t>などの空力係数を迎角ごとに計算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グラフ（PNG）を実験フォルダに自動保存</a:t>
            </a:r>
            <a:endParaRPr sz="1300" dirty="0">
              <a:solidFill>
                <a:srgbClr val="1A1A2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9412" y="4059936"/>
            <a:ext cx="11430000" cy="15087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422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17A3C"/>
                </a:solidFill>
              </a:rPr>
              <a:t>👤 </a:t>
            </a:r>
            <a:r>
              <a:rPr sz="1100" b="1" i="0" dirty="0" err="1">
                <a:solidFill>
                  <a:srgbClr val="217A3C"/>
                </a:solidFill>
              </a:rPr>
              <a:t>後処理完了後にユーザーがすること</a:t>
            </a:r>
            <a:endParaRPr sz="1100" b="1" i="0" dirty="0">
              <a:solidFill>
                <a:srgbClr val="217A3C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4544568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>
                <a:solidFill>
                  <a:srgbClr val="1A1A2E"/>
                </a:solidFill>
              </a:rPr>
              <a:t>① </a:t>
            </a:r>
            <a:r>
              <a:rPr sz="1300" dirty="0" err="1">
                <a:solidFill>
                  <a:srgbClr val="1A1A2E"/>
                </a:solidFill>
              </a:rPr>
              <a:t>WindyData</a:t>
            </a:r>
            <a:r>
              <a:rPr sz="1300" dirty="0">
                <a:solidFill>
                  <a:srgbClr val="1A1A2E"/>
                </a:solidFill>
              </a:rPr>
              <a:t>/&lt;</a:t>
            </a:r>
            <a:r>
              <a:rPr sz="1300" dirty="0" err="1">
                <a:solidFill>
                  <a:srgbClr val="1A1A2E"/>
                </a:solidFill>
              </a:rPr>
              <a:t>実験フォルダ</a:t>
            </a:r>
            <a:r>
              <a:rPr sz="1300" dirty="0">
                <a:solidFill>
                  <a:srgbClr val="1A1A2E"/>
                </a:solidFill>
              </a:rPr>
              <a:t>&gt;/ </a:t>
            </a:r>
            <a:r>
              <a:rPr sz="1300" dirty="0" err="1">
                <a:solidFill>
                  <a:srgbClr val="1A1A2E"/>
                </a:solidFill>
              </a:rPr>
              <a:t>を開いて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Cl.png</a:t>
            </a:r>
            <a:r>
              <a:rPr sz="1300" dirty="0">
                <a:solidFill>
                  <a:srgbClr val="1A1A2E"/>
                </a:solidFill>
              </a:rPr>
              <a:t> / </a:t>
            </a:r>
            <a:r>
              <a:rPr sz="1300" dirty="0" err="1">
                <a:solidFill>
                  <a:srgbClr val="1A1A2E"/>
                </a:solidFill>
              </a:rPr>
              <a:t>Cd.png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などを確認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1A2E"/>
                </a:solidFill>
              </a:rPr>
              <a:t>② </a:t>
            </a:r>
            <a:r>
              <a:rPr sz="1300" dirty="0" err="1">
                <a:solidFill>
                  <a:srgbClr val="1A1A2E"/>
                </a:solidFill>
              </a:rPr>
              <a:t>ブロワーを停止する（有風実験の場合</a:t>
            </a:r>
            <a:r>
              <a:rPr sz="1300" dirty="0">
                <a:solidFill>
                  <a:srgbClr val="1A1A2E"/>
                </a:solidFill>
              </a:rPr>
              <a:t>）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1A2E"/>
                </a:solidFill>
              </a:rPr>
              <a:t>③ 迎角ステージは自動でホームポジション（0°）</a:t>
            </a:r>
            <a:r>
              <a:rPr sz="1300" dirty="0" err="1">
                <a:solidFill>
                  <a:srgbClr val="1A1A2E"/>
                </a:solidFill>
              </a:rPr>
              <a:t>に戻っています</a:t>
            </a:r>
            <a:endParaRPr sz="1300" dirty="0">
              <a:solidFill>
                <a:srgbClr val="1A1A2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9412" y="5729725"/>
            <a:ext cx="11430000" cy="77724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7287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D96D00"/>
                </a:solidFill>
              </a:rPr>
              <a:t>⚠  </a:t>
            </a:r>
            <a:r>
              <a:rPr sz="1100" b="1" i="0" dirty="0" err="1">
                <a:solidFill>
                  <a:srgbClr val="D96D00"/>
                </a:solidFill>
              </a:rPr>
              <a:t>後処理がスキップされるケース</a:t>
            </a:r>
            <a:endParaRPr sz="1100" b="1" i="0" dirty="0">
              <a:solidFill>
                <a:srgbClr val="D96D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0258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1A1A2E"/>
                </a:solidFill>
              </a:rPr>
              <a:t>4フェーズのいずれか </a:t>
            </a:r>
            <a:r>
              <a:rPr sz="1100" dirty="0" err="1">
                <a:solidFill>
                  <a:srgbClr val="1A1A2E"/>
                </a:solidFill>
              </a:rPr>
              <a:t>volt_summary.csv</a:t>
            </a:r>
            <a:r>
              <a:rPr sz="1100" dirty="0">
                <a:solidFill>
                  <a:srgbClr val="1A1A2E"/>
                </a:solidFill>
              </a:rPr>
              <a:t> </a:t>
            </a:r>
            <a:r>
              <a:rPr sz="1100" dirty="0" err="1">
                <a:solidFill>
                  <a:srgbClr val="1A1A2E"/>
                </a:solidFill>
              </a:rPr>
              <a:t>が欠けている場合は後処理を自動スキップ</a:t>
            </a:r>
            <a:endParaRPr sz="11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A1A2E"/>
                </a:solidFill>
              </a:rPr>
              <a:t>→ </a:t>
            </a:r>
            <a:r>
              <a:rPr sz="1100" dirty="0" err="1">
                <a:solidFill>
                  <a:srgbClr val="1A1A2E"/>
                </a:solidFill>
              </a:rPr>
              <a:t>欠けているフェーズを再実行するか、手動で後処理スクリプトを実行してください</a:t>
            </a:r>
            <a:endParaRPr sz="1100" dirty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まとめ：操作チートシート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実験当日に確認するポイント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52578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ユーザーが入力・確認すること（全部で 7ステップ）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1.  run_experiment を実行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2.  実験フォルダ名を入力   例: 260605_rigid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3.  気温 [℃] を入力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4.  気圧 [mmHg] を入力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5.  最大迎角を入力   （Enter のみ → 30°）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6.  開始フェーズを選択   （Enter のみ → 1: Pofst から）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--- フェーズごとに ---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7a. 無風フェーズ → 電圧オフセット計測の要否 [y/N] → ブロワー停止確認 → Enter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7b. 有風フェーズ → ブロワー起動・風速安定後 → 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60120"/>
            <a:ext cx="5669280" cy="52578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プログラムが自動でやること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52728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・機器（ステージ/センサ/デジボル）の接続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・フォルダ自動作成（WindyData/&lt;実験名&gt;/data/）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・各計測点：ステージ移動→センサ計測→デジボル計測→保存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・4フェーズを Pofst→Mofst→Pdata→Mdata の順に自動進行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・エラー時：R（再試行）/ S（スキップ）/ P（フェーズ再開）…を確認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・全完了後：windspeed.csv → 空力係数グラフを自動生成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Windy 風洞実験自動計測システム  —  操作マニュアル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1508</Words>
  <Application>Microsoft Macintosh PowerPoint</Application>
  <PresentationFormat>ユーザー設定</PresentationFormat>
  <Paragraphs>231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岡本　雄哉</cp:lastModifiedBy>
  <cp:revision>2</cp:revision>
  <dcterms:created xsi:type="dcterms:W3CDTF">2013-01-27T09:14:16Z</dcterms:created>
  <dcterms:modified xsi:type="dcterms:W3CDTF">2026-06-05T06:09:30Z</dcterms:modified>
  <cp:category/>
</cp:coreProperties>
</file>